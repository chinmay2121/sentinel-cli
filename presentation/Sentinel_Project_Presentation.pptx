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73b89604324d2a" /><Relationship Type="http://schemas.openxmlformats.org/officeDocument/2006/relationships/extended-properties" Target="/docProps/app.xml" Id="R01c42c17a4e54269" /><Relationship Type="http://schemas.openxmlformats.org/officeDocument/2006/relationships/officeDocument" Target="/ppt/presentation.xml" Id="R209c2c62b91649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7f049e47aa4891"/>
  </p:sldMasterIdLst>
  <p:notesMasterIdLst>
    <p:notesMasterId xmlns:r="http://schemas.openxmlformats.org/officeDocument/2006/relationships" r:id="R931cd76d4f524ca7"/>
  </p:notesMasterIdLst>
  <p:sldIdLst>
    <p:sldId xmlns:r="http://schemas.openxmlformats.org/officeDocument/2006/relationships" id="256" r:id="Rfb75aa705ba840c7"/>
    <p:sldId xmlns:r="http://schemas.openxmlformats.org/officeDocument/2006/relationships" id="257" r:id="Ra3cef6e124344ce3"/>
    <p:sldId xmlns:r="http://schemas.openxmlformats.org/officeDocument/2006/relationships" id="258" r:id="Rbeb74ca167c047eb"/>
    <p:sldId xmlns:r="http://schemas.openxmlformats.org/officeDocument/2006/relationships" id="259" r:id="Rf9b1732a7b2f4396"/>
    <p:sldId xmlns:r="http://schemas.openxmlformats.org/officeDocument/2006/relationships" id="260" r:id="R149ab57a4670405b"/>
    <p:sldId xmlns:r="http://schemas.openxmlformats.org/officeDocument/2006/relationships" id="261" r:id="R9b5c5cd87ff54d99"/>
    <p:sldId xmlns:r="http://schemas.openxmlformats.org/officeDocument/2006/relationships" id="262" r:id="Re6593adbbc844f1a"/>
    <p:sldId xmlns:r="http://schemas.openxmlformats.org/officeDocument/2006/relationships" id="263" r:id="R6bc997893d934579"/>
    <p:sldId xmlns:r="http://schemas.openxmlformats.org/officeDocument/2006/relationships" id="264" r:id="Rea03ae9fcf044ab2"/>
    <p:sldId xmlns:r="http://schemas.openxmlformats.org/officeDocument/2006/relationships" id="265" r:id="Rec92345a01134fac"/>
    <p:sldId xmlns:r="http://schemas.openxmlformats.org/officeDocument/2006/relationships" id="266" r:id="R7f311f02ecbc43a9"/>
    <p:sldId xmlns:r="http://schemas.openxmlformats.org/officeDocument/2006/relationships" id="267" r:id="R5c6d3f17415d4236"/>
    <p:sldId xmlns:r="http://schemas.openxmlformats.org/officeDocument/2006/relationships" id="268" r:id="R9ed6ab6e10514c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739a27f8d84bd3" /><Relationship Type="http://schemas.openxmlformats.org/officeDocument/2006/relationships/slideMaster" Target="/ppt/slideMasters/slideMaster1.xml" Id="Ra77f049e47aa4891" /><Relationship Type="http://schemas.openxmlformats.org/officeDocument/2006/relationships/notesMaster" Target="/ppt/notesMasters/notesMaster1.xml" Id="R931cd76d4f524ca7" /><Relationship Type="http://schemas.openxmlformats.org/officeDocument/2006/relationships/presProps" Target="/ppt/presProps.xml" Id="R887464d09cdf4a3f" /><Relationship Type="http://schemas.openxmlformats.org/officeDocument/2006/relationships/tableStyles" Target="/ppt/tableStyles.xml" Id="Re94856e91c624a9c" /><Relationship Type="http://schemas.openxmlformats.org/officeDocument/2006/relationships/slide" Target="/ppt/slides/slide1.xml" Id="Rfb75aa705ba840c7" /><Relationship Type="http://schemas.openxmlformats.org/officeDocument/2006/relationships/slide" Target="/ppt/slides/slide2.xml" Id="Ra3cef6e124344ce3" /><Relationship Type="http://schemas.openxmlformats.org/officeDocument/2006/relationships/slide" Target="/ppt/slides/slide3.xml" Id="Rbeb74ca167c047eb" /><Relationship Type="http://schemas.openxmlformats.org/officeDocument/2006/relationships/slide" Target="/ppt/slides/slide4.xml" Id="Rf9b1732a7b2f4396" /><Relationship Type="http://schemas.openxmlformats.org/officeDocument/2006/relationships/slide" Target="/ppt/slides/slide5.xml" Id="R149ab57a4670405b" /><Relationship Type="http://schemas.openxmlformats.org/officeDocument/2006/relationships/slide" Target="/ppt/slides/slide6.xml" Id="R9b5c5cd87ff54d99" /><Relationship Type="http://schemas.openxmlformats.org/officeDocument/2006/relationships/slide" Target="/ppt/slides/slide7.xml" Id="Re6593adbbc844f1a" /><Relationship Type="http://schemas.openxmlformats.org/officeDocument/2006/relationships/slide" Target="/ppt/slides/slide8.xml" Id="R6bc997893d934579" /><Relationship Type="http://schemas.openxmlformats.org/officeDocument/2006/relationships/slide" Target="/ppt/slides/slide9.xml" Id="Rea03ae9fcf044ab2" /><Relationship Type="http://schemas.openxmlformats.org/officeDocument/2006/relationships/slide" Target="/ppt/slides/slide10.xml" Id="Rec92345a01134fac" /><Relationship Type="http://schemas.openxmlformats.org/officeDocument/2006/relationships/slide" Target="/ppt/slides/slide11.xml" Id="R7f311f02ecbc43a9" /><Relationship Type="http://schemas.openxmlformats.org/officeDocument/2006/relationships/slide" Target="/ppt/slides/slide12.xml" Id="R5c6d3f17415d4236" /><Relationship Type="http://schemas.openxmlformats.org/officeDocument/2006/relationships/slide" Target="/ppt/slides/slide13.xml" Id="R9ed6ab6e1051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0cb0a17cd645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e2bd58f4cb4a35" /><Relationship Type="http://schemas.openxmlformats.org/officeDocument/2006/relationships/notesMaster" Target="/ppt/notesMasters/notesMaster1.xml" Id="Rf619ac2842f2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6eb4907dc14a74" /><Relationship Type="http://schemas.openxmlformats.org/officeDocument/2006/relationships/notesMaster" Target="/ppt/notesMasters/notesMaster1.xml" Id="R867b4fdda17142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f68af34b264aa4" /><Relationship Type="http://schemas.openxmlformats.org/officeDocument/2006/relationships/notesMaster" Target="/ppt/notesMasters/notesMaster1.xml" Id="R794328fd9f2a42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146f11e476452b" /><Relationship Type="http://schemas.openxmlformats.org/officeDocument/2006/relationships/notesMaster" Target="/ppt/notesMasters/notesMaster1.xml" Id="Rea0187d36b0141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f17f4b4f7e43cd" /><Relationship Type="http://schemas.openxmlformats.org/officeDocument/2006/relationships/notesMaster" Target="/ppt/notesMasters/notesMaster1.xml" Id="R2eb8abaa4a904d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7812ccdba04a90" /><Relationship Type="http://schemas.openxmlformats.org/officeDocument/2006/relationships/notesMaster" Target="/ppt/notesMasters/notesMaster1.xml" Id="Rb5ae52d6823449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afbaf2a42142e6" /><Relationship Type="http://schemas.openxmlformats.org/officeDocument/2006/relationships/notesMaster" Target="/ppt/notesMasters/notesMaster1.xml" Id="Ra0cedf15619c49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ddf9de12f84599" /><Relationship Type="http://schemas.openxmlformats.org/officeDocument/2006/relationships/notesMaster" Target="/ppt/notesMasters/notesMaster1.xml" Id="Rfee0d1261a3641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ab63ce0af24a5a" /><Relationship Type="http://schemas.openxmlformats.org/officeDocument/2006/relationships/notesMaster" Target="/ppt/notesMasters/notesMaster1.xml" Id="R9004f2ad25c245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9d9e61bf3e489a" /><Relationship Type="http://schemas.openxmlformats.org/officeDocument/2006/relationships/notesMaster" Target="/ppt/notesMasters/notesMaster1.xml" Id="Ra12d0d42d1e640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cb5bd6af0e4b55" /><Relationship Type="http://schemas.openxmlformats.org/officeDocument/2006/relationships/notesMaster" Target="/ppt/notesMasters/notesMaster1.xml" Id="Ra65d3bb33abd49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c776cafb4149ec" /><Relationship Type="http://schemas.openxmlformats.org/officeDocument/2006/relationships/notesMaster" Target="/ppt/notesMasters/notesMaster1.xml" Id="R9a4aba9545b34b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89306500154055" /><Relationship Type="http://schemas.openxmlformats.org/officeDocument/2006/relationships/notesMaster" Target="/ppt/notesMasters/notesMaster1.xml" Id="Rad584a83d657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manuscript and repository. Student USNs were not present in the supplied files, so editable placeholders are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docs/sentinel_revised.tex, Introduction and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docs/sentinel_revised.tex, Problem and Design 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manuscript, design requirements and reporting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manuscript Related Work; Slither, PoCo, Prompt to Pwn, SmartFix, ContractTinker, and SCPatcher references listed in the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docs/sentinel_revised.tex, Proposed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Fig. 1 in docs/sentinel_revised.tex. Diagram is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Five operational phases, and project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pyproject.toml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implementation, README.md, and manuscript System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reports/experiments/paper-full benchmark and docs/sentinel_revised.tex. Chart uses measured per-fixture runtimes. Results do not establish held-out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reporting and dashboard requirements in README.md and manuscript Report Generation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docs/sentinel_revised.tex, Conclusion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a68e2e08c41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475d3415d244b2" /><Relationship Type="http://schemas.openxmlformats.org/officeDocument/2006/relationships/slideLayout" Target="/ppt/slideLayouts/slideLayout1.xml" Id="Rd26e1fe3135240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e1fe3135240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fe510c35141e2" /><Relationship Type="http://schemas.openxmlformats.org/officeDocument/2006/relationships/notesSlide" Target="/ppt/notesSlides/notesSlide1.xml" Id="Rb8f14bd8e26443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6e92b61754eab" /><Relationship Type="http://schemas.openxmlformats.org/officeDocument/2006/relationships/notesSlide" Target="/ppt/notesSlides/notesSlide2.xml" Id="R7c57b7d866b64f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21ff3c74b46db" /><Relationship Type="http://schemas.openxmlformats.org/officeDocument/2006/relationships/notesSlide" Target="/ppt/notesSlides/notesSlide3.xml" Id="R582475772f424f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7bbcd650b4390" /><Relationship Type="http://schemas.openxmlformats.org/officeDocument/2006/relationships/notesSlide" Target="/ppt/notesSlides/notesSlide4.xml" Id="R61ba7f9acb1347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43eb2d08c46f5" /><Relationship Type="http://schemas.openxmlformats.org/officeDocument/2006/relationships/notesSlide" Target="/ppt/notesSlides/notesSlide5.xml" Id="Rd316e3cdf23c4a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b3e691aba463a" /><Relationship Type="http://schemas.openxmlformats.org/officeDocument/2006/relationships/notesSlide" Target="/ppt/notesSlides/notesSlide6.xml" Id="R4dceb4c9e00b4a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a4c1bfcea4e12" /><Relationship Type="http://schemas.openxmlformats.org/officeDocument/2006/relationships/notesSlide" Target="/ppt/notesSlides/notesSlide7.xml" Id="Reb18cd2b13f54d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335ba9d374c7f" /><Relationship Type="http://schemas.openxmlformats.org/officeDocument/2006/relationships/notesSlide" Target="/ppt/notesSlides/notesSlide8.xml" Id="Rf7da77a1d84c41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f708b0aa34d9b" /><Relationship Type="http://schemas.openxmlformats.org/officeDocument/2006/relationships/notesSlide" Target="/ppt/notesSlides/notesSlide9.xml" Id="Rd0d147bd904649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e40f644544318" /><Relationship Type="http://schemas.openxmlformats.org/officeDocument/2006/relationships/notesSlide" Target="/ppt/notesSlides/notesSlide10.xml" Id="R9b8be7fac46a4c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ba1154f3f44a1" /><Relationship Type="http://schemas.openxmlformats.org/officeDocument/2006/relationships/chart" Target="/ppt/slides/charts/chart1.xml" Id="R178d5aa1dab048e3" /><Relationship Type="http://schemas.openxmlformats.org/officeDocument/2006/relationships/notesSlide" Target="/ppt/notesSlides/notesSlide11.xml" Id="R9a1291c186d344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76f05c8e44f9b" /><Relationship Type="http://schemas.openxmlformats.org/officeDocument/2006/relationships/notesSlide" Target="/ppt/notesSlides/notesSlide12.xml" Id="Reb48ea76ac184f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6ba4f8c704593" /><Relationship Type="http://schemas.openxmlformats.org/officeDocument/2006/relationships/notesSlide" Target="/ppt/notesSlides/notesSlide13.xml" Id="R25d66bb363e04d8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Runtime (seconds)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Data'!$A$2:$A$5</c:f>
              <c:strCache>
                <c:ptCount val="4"/>
                <c:pt idx="0">
                  <c:v>Reentrancy</c:v>
                </c:pt>
                <c:pt idx="1">
                  <c:v>Access control</c:v>
                </c:pt>
                <c:pt idx="2">
                  <c:v>tx.origin</c:v>
                </c:pt>
                <c:pt idx="3">
                  <c:v>Unchecked call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35.892</c:v>
                </c:pt>
                <c:pt idx="1">
                  <c:v>14.067</c:v>
                </c:pt>
                <c:pt idx="2">
                  <c:v>10.376</c:v>
                </c:pt>
                <c:pt idx="3">
                  <c:v>64.568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51101-894D-4D22-92C1-DDF84C5D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FF605-A877-4C19-9A14-3BF1B2BD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D3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3D3"/>
                </a:solidFill>
                <a:latin typeface="Arial"/>
                <a:ea typeface="Arial"/>
                <a:cs typeface="Arial"/>
              </a:rPr>
              <a:t>SENTINEL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A6AE4-1BA2-41DB-928B-EA820CBF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Evidence-guided smart contract</a:t>
            </a:r>
          </a:p>
          <a:p xmlns:a="http://schemas.openxmlformats.org/drawingml/2006/main">
            <a:pPr>
              <a:defRPr sz="32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vulnerability confirmation and repair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E23DE-6878-4CE3-9B7B-91BC0D69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D6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D6E5"/>
                </a:solidFill>
                <a:latin typeface="Arial"/>
                <a:ea typeface="Arial"/>
                <a:cs typeface="Arial"/>
              </a:rPr>
              <a:t>Major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7A2FD-4C55-46BC-9F5E-164C83CC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86250" cy="56197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02B45"/>
          </a:solidFill>
          <a:ln xmlns:a="http://schemas.openxmlformats.org/drawingml/2006/main" w="9525">
            <a:solidFill>
              <a:srgbClr val="3150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DF73-0C0B-48FE-9E56-DF86B74F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38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D3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D3D3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957C3-D8D4-4C93-A885-2E1095B6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525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 R Pranav Swaroop Reddy     USN: 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98187-1D88-48B0-9929-B1C9FF0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Chinmay Hegde     USN: 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683CA-36E0-4AA5-B8DF-BCEA53D8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Jnan Dev B L     USN: 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0846F-4D4B-46E9-B3BB-CD76BB35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Suhas P     USN: 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A3D70-1603-4566-8CFE-F2983E57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BF742-F10E-42CA-9C08-765DBB1B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D3D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5D3D3"/>
                </a:solidFill>
                <a:latin typeface="Arial"/>
                <a:ea typeface="Arial"/>
                <a:cs typeface="Arial"/>
              </a:rPr>
              <a:t>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58E80-C935-4B43-B52E-CA24439D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Manjunath D. 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F5909-DF45-42F2-8EA0-B3CF6C24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1962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D7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7E3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  <a:p xmlns:a="http://schemas.openxmlformats.org/drawingml/2006/main">
            <a:pPr>
              <a:defRPr sz="1125" b="0">
                <a:solidFill>
                  <a:srgbClr val="C9D7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7E3"/>
                </a:solidFill>
                <a:latin typeface="Arial"/>
                <a:ea typeface="Arial"/>
                <a:cs typeface="Arial"/>
              </a:rPr>
              <a:t>IoT and Cybersecurity including Blockchain Technology</a:t>
            </a:r>
          </a:p>
          <a:p xmlns:a="http://schemas.openxmlformats.org/drawingml/2006/main">
            <a:pPr>
              <a:defRPr sz="1125" b="0">
                <a:solidFill>
                  <a:srgbClr val="C9D7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7E3"/>
                </a:solidFill>
                <a:latin typeface="Arial"/>
                <a:ea typeface="Arial"/>
                <a:cs typeface="Arial"/>
              </a:rPr>
              <a:t>B.M.S. College of Engineering, Bengaluru</a:t>
            </a:r>
          </a:p>
        </p:txBody>
      </p:sp>
    </p:spTree>
    <p:extLst>
      <p:ext uri="{BB962C8B-B14F-4D97-AF65-F5344CB8AC3E}">
        <p14:creationId xmlns:p14="http://schemas.microsoft.com/office/powerpoint/2010/main" val="941446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3815D-A84C-4B3B-B31F-71CFDE61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83ED7-14D1-4037-A4FE-752D59FF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26047-FCD9-4025-86EE-43B127E5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EAC41-73BE-4FDD-9EB2-D09C757D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EB556-ED86-404F-8906-746BA31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Smart contracts hold assets and enforce rules automatically. A small coding error can therefore become a direct security loss.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B116A-4E81-4B10-8DFF-80413312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24879-CCEA-4ACE-8033-C1D6A029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5404B-0FF1-43B2-B789-69CC4BA5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Slither and Mythril identify suspicious patterns and execution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3A68-28C1-4CB3-8F91-C1CC31BE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A3812-8A2A-4435-ABAC-29BFD034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CB83E-58B2-431D-9948-54EBE543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warning becomes stronger evidence when a Foundry test reproduces the attack.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8CB4C-0AD9-4757-BC31-BB127A0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CA4AD-ECF1-4463-BA4D-502F900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A1EF7-FE52-433A-8D9E-BDDC68FF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patch needs compilation, exploit replay, and regression checks before acceptance.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CA1E2-6C62-497F-99BA-5366B80E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Sentinel connects these steps in one local, reviewable workflow.</a:t>
            </a:r>
          </a:p>
        </p:txBody>
      </p:sp>
    </p:spTree>
    <p:extLst>
      <p:ext uri="{BB962C8B-B14F-4D97-AF65-F5344CB8AC3E}">
        <p14:creationId xmlns:p14="http://schemas.microsoft.com/office/powerpoint/2010/main" val="1854623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539BE-83EE-4572-9BD2-0FC2F31A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889A0-BB41-44B0-BE30-9E335FFF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1FE17-AB16-410B-8697-BD3BE14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D9AF2-F599-4030-B623-5144AEA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26FFD-C079-4AF1-9D11-28302901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Existing tools produce useful evidence, but developers still have to connect the evidence manually.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2D260-36DD-4301-A7B0-87EF8BF8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E09C4-0966-43F0-83EA-C5BCE034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Different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48412-1F93-4316-AB6B-E99B27E7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Static and symbolic tools use different formats and severity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F9E8E-4FDC-4EDE-AB73-0049C69B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BA8CB-B117-4028-9CB1-1EA3B506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Warnings lack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84CB9-B354-48B5-B84F-B8645F4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reported pattern may not be exploitable in the target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A2F24-12F5-423F-9F2F-D7289F5D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02ABD-12CC-4A8D-A2EA-CA479F5A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67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Patches may break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58289-AEE4-4442-964C-6B645EE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671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compilable change can leave the exploit active or damage normal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21BE5-38A2-48C8-947E-574B1734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23B53-7D0B-4290-80F4-1E81A7D3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Failures can be hidden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E6438-86BE-4537-855A-94B08C28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Missing tools and timeouts may be mistaken for a clean result.</a:t>
            </a:r>
          </a:p>
        </p:txBody>
      </p:sp>
    </p:spTree>
    <p:extLst>
      <p:ext uri="{BB962C8B-B14F-4D97-AF65-F5344CB8AC3E}">
        <p14:creationId xmlns:p14="http://schemas.microsoft.com/office/powerpoint/2010/main" val="257132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041E5-E553-42BF-AD41-BFD0C058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2E815-5149-4248-B150-E328F456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39F20-974E-4AF5-B06D-D5D50548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29A54-9FD6-49F2-8EEF-D6B3EE40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A56AC-1238-4D88-9A43-0145FC88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E6D37-CCFE-4780-AF38-A0C8618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811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Combine Slither and Mythril findings into one structured format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09DF7-93ED-4B03-B5B9-7FF80FD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A89FB-4927-4CC7-80C7-1664B5E2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3811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Confirm selected vulnerabilities with executable Foundry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B74D4-D23F-4826-8295-BFB2D46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0C639-351E-44F9-A537-77BFE371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Generate focused patches inside an isolated project copy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A2AC5-7885-437F-9359-336B7CE3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527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1FA50-EDBA-4669-91CA-CD12F17A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Accept repairs only after build, exploit-defense, and regression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795B5-2003-4D8A-B149-619B463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AC5DB-4FA3-48A8-80DF-6CD3C4D7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Record findings, bugs, scans, changes, retries, and phase conclusions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14375-8390-40A4-916A-3B7384A7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2437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51C31-0308-43BA-A421-1C4722BF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2437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Support reproducible benchmark profiles and honest coverage reporting</a:t>
            </a:r>
          </a:p>
        </p:txBody>
      </p:sp>
    </p:spTree>
    <p:extLst>
      <p:ext uri="{BB962C8B-B14F-4D97-AF65-F5344CB8AC3E}">
        <p14:creationId xmlns:p14="http://schemas.microsoft.com/office/powerpoint/2010/main" val="986516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9F7B7-983E-4285-984B-4B31327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5F30E-66E6-499C-8D62-92488D3B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Existing systems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A826D-C3B4-4455-8EBF-AAC9E8B6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F10AB-E102-41AA-AEC7-352BDFE0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2BE2C-6348-4D88-854A-3FB718B1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A129E-523E-48A5-AC23-DDC4804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3811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Strength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35A15-3290-4AB0-ADB2-33FFB177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Remaining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F6562-8227-4520-81F2-54CE5ED4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CD340-8CD3-4E87-861B-7865EC40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Slither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62E09-5956-4BFE-BC2C-BD921D6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09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Fast static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C5D94-3388-48A8-B6B5-4109116D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Warning does not prove project-specific exploitability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6317C-64D2-4D97-9003-821EE588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FAB3F-B0DC-429C-A399-003FE1E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Mythril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FBA03-3069-44F2-89E1-78B83522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Symbolic path exploration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D45F1-3578-4CB9-98FE-7243A0E6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Higher execution cost and environment sensitivity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3CBF5-B3C6-4856-B0C4-559AC0A5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D895B-E299-40FA-8386-A60DBA60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PoCo / ReX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9AC68-EBAF-48B1-84B8-0686DB9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623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Executable exploit generation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FF773-23E1-467A-88C0-D140C41C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Primarily focuses on exploit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9806C-9B4B-406B-AF59-34316287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03BEF-D3DF-47F1-90F1-4EA5D33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SmartFix / ContractTinker / SCPatcher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CC028-5954-4CA8-85A1-D1CDE75B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386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Automated repair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A3FDF-F60B-4110-81CB-E5745314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Different datasets and validation oracles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8B8CE-A16D-4245-95AA-9A33B569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Sentinel studies the boundary between detection, executable confirmation, repair, and final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851238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F790A-5FDF-4BDB-B95D-7C43453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CCE4E-4C62-4570-A992-D6295F78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B9E0F-2DC0-4909-A4C7-2C450923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822A4-4620-4974-9953-E5EA1153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08D23-AC3E-4A9D-8DA5-A30F609A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evidence chain from source code to a verified or review-required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E8B4B-A8AA-41F0-9AC7-4F4F0014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6E406-879B-44A6-9670-B3376F88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F37FE-E509-413A-A7A8-5BD8ADB2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051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Normalizes findings and selects a candidate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CD1D5-E8F5-4B25-85A6-17DF7A3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43125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AF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BA91E-FBAB-4EA2-83F6-C059487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52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DFBB0-7626-4C22-A53D-2C79C01D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051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Builds and runs a local exploit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953E8-DD3D-408E-9984-6B05B717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BFBA0-527D-4102-861D-C39B2192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52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Blue Team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F949A-FD98-4FD1-B887-12B959E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051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Creates a focused, reviewable source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2441F-3169-42C2-B616-18563491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43125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AF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692F5-1348-476A-B313-BF68A4A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52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3B3E3-2365-4DBF-9608-BE9A7877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051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Uses Forge to decide whether the patch passes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C9202-6A92-488D-9548-69DD5618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original project stays unchanged. Reports preserve every artifact and failure reason.</a:t>
            </a:r>
          </a:p>
        </p:txBody>
      </p:sp>
    </p:spTree>
    <p:extLst>
      <p:ext uri="{BB962C8B-B14F-4D97-AF65-F5344CB8AC3E}">
        <p14:creationId xmlns:p14="http://schemas.microsoft.com/office/powerpoint/2010/main" val="2003070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70D890-DFED-451B-9A87-8A965280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1FF37-5E03-4EB7-8FF3-928799FC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9C37B-36F7-431F-A59E-49EDE5DB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0A960-5DD0-4DDE-BC5C-36E71AD2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46668-9590-407A-B63D-EC2DF41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44E92-E102-4654-8117-4A90B307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E87AE-EEFE-4C71-8A2F-287781F1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9B57C-7B05-420D-8EA1-CAFE7079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CC0F9-C3A9-48FF-B217-5F4EACAB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Foundry project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Isolated copy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AD6F9-9A72-4376-B71D-B0CE2F0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2766F-EEDF-4211-9A4E-70E44CAA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F2159-C8B1-4309-BCDE-4C4D322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0D20A-1494-4234-956B-E0A3861B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2B03F-B8FB-4CF1-8D4C-A3847629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C1008-8DEC-4DAD-99D0-19F4A24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Scout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193AC-0627-4C06-93DE-5A8544D6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Slither + Mythril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Rank 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F5F96-0C44-43D2-8996-FC6A284D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E2401-4201-416A-AD12-20E6A802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5977F-E451-4073-B67F-5FF280E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5E712-B423-4530-9B60-FA8361A8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03D3F-89A6-4671-A10E-86B8982B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140DA-12CA-4F36-B980-36EEE3CA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Red Team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21AC3-4629-4FE6-B5EB-8A6D2B00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Create PoC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Run Forge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71C5C-8201-4812-A532-5711F1B0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C016B-4413-4E01-A7BE-F6EFD5C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4723C-3440-4D06-BAB4-AC810F19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D763E0-7D66-4307-9EF9-380BDE0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CD64A-46FB-4788-B5DA-08D1B9FA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334F2C-393E-450E-9A36-29AD8712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Blue Team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3F967C-59CD-47C5-8078-703DA40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Generate patch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Check diff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E4193-6973-4AF7-A91E-72A38F75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2CEC33-3349-4D04-BA43-FD04301A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6E08D2-8016-432A-A24F-632A697F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3E1834-0026-4F0B-8639-0C866A3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E5CE0B-E784-4B8C-9631-A051E6F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A0CB57-68BE-4BC4-B421-E792C14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5C8B2B-1E90-46E6-B622-78FC798F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Build + replay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Run regressions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9918A5-58E7-4520-8317-FCF3B82E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BE7080-71E4-45DE-8216-86A1A0EC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6A70C4-53DF-4C70-847C-E97001E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B56E9-19E1-49DF-A0C3-9B1BDB8F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4F98D4-1BF1-4100-BE04-32AB6106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2E9E12-7C7C-4551-A02C-CD696200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95D3CB-6A91-45FA-AA98-1B6FDD24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Accept, retry,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abstain, 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52F317-3FA3-4066-A41B-B3791A7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0134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00A6A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C29D87-2699-4994-B126-EA04513B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Shared evidence ledger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BE313A-515B-4109-A62F-0E6DFD76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29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Source snapshots   Analyzer diagnostics   Ranked candidates   PoC output   Patch diff   Validation results   Retry history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5179BB-62FA-40B8-AFAA-F1F6E6E7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Failed validation returns evidence to Blue Team for a bounded retry</a:t>
            </a:r>
          </a:p>
        </p:txBody>
      </p:sp>
    </p:spTree>
    <p:extLst>
      <p:ext uri="{BB962C8B-B14F-4D97-AF65-F5344CB8AC3E}">
        <p14:creationId xmlns:p14="http://schemas.microsoft.com/office/powerpoint/2010/main" val="2061809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EDDF77-2920-45DF-94C2-01FB0BD2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E1DC7-BE6F-4DA5-B63C-F68D1BBA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Methodology and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27296-DB3B-45D0-83D6-942638C6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F2CC0-7069-478F-BFCB-F877B802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92074-B031-4E26-B6D5-B426C8F4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4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36D3D-F435-42A6-9464-9FE68995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4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63E19-9D46-4E4D-878D-72339A5F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95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Validate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F2063-9FEF-4405-9535-4FCDBB7C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954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Check Foundry configuration and copy the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233D3-D0C6-47EF-8B7F-C8DA996B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0FF5E-A0B7-40C8-A51C-24943190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C3F3A-FF39-4AB9-969F-1468205F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Collect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178C1-F424-459F-8123-80CF998F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Run analyzers and normalize their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481A7-3590-466B-9A65-DC16BF25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D38C0-68CA-404A-92CD-83EB4CC0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AC7FD-6AE2-454D-B6F7-343337D4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Confirm 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97D61-333C-4103-AC18-C2A0414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Generate testExploit and execute it with Forge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91261-64EE-4D8D-8AC5-C34A7C79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EACC5-2EAB-4EC7-9AF8-E03FB52D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9899A-3E06-47E8-B059-BC42A67F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Create 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5FC3E-AEE6-4756-BF73-9862C194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Apply a template or guarded unified 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332B7-6DD2-455B-8BFC-D2022883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4D5E2-76B6-406A-8C95-E4BEE3CD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602B1-5B3A-45F0-954D-1D00EE2D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19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BB36A-945A-42D8-9A17-E4DF5C2D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Build, block the exploit, and run regressions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BF471-044C-4B7C-A17A-96021754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26A0B-B209-484B-B812-EF7280B0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3AFFE-40B6-4780-AD3E-A58F0F73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00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Conclude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E0658-12F4-4BA2-983B-1E4FEE48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006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Accept, retry, abstain, or request human review</a:t>
            </a:r>
          </a:p>
        </p:txBody>
      </p:sp>
    </p:spTree>
    <p:extLst>
      <p:ext uri="{BB962C8B-B14F-4D97-AF65-F5344CB8AC3E}">
        <p14:creationId xmlns:p14="http://schemas.microsoft.com/office/powerpoint/2010/main" val="567050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221A3-8621-4D07-A742-12597C88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D2771-A792-4F76-9391-7A12516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Technologies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8999F-2E54-4367-90CB-5C05338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CCFA6-8486-4FA0-A569-5C0725CB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2F12D-BB35-47BF-940D-F6B46236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CBCE3-5FB8-45A0-9668-FEA895D4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29F53-493C-42D4-9E6D-1BC64DB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Python 3.11+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Typer CLI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FastAPI + Uvicorn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801F6-FCC6-4714-845D-19F53FDF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8A3BF-34C0-440A-8758-0DD28639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A4C83-87E0-44C4-8597-CFF2CC7F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LangGraph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Pydantic state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JSON ledger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4583C-BC8D-422A-BAB2-D7505D0E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Security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685F6-5868-4BD6-9D1C-05E0E8B8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F286D-E990-4E78-9A7C-3374B4FC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Slither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Mythril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Solidity 0.8.25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BA19D-6780-4073-83D7-BA61A4C8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29DF9-2404-478A-8B3B-AB9F7E07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00FAC-BC0E-49F0-B7EF-9ED6EA53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Foundry / Forge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Local EVM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Pytest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D8A26-0CA8-414F-92F2-3044E11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Optional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271A5-AF45-4D6C-B357-D178BEB7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FE040-9D90-4498-92FE-4E3A077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Gemini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OpenAI models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Ollama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D7EFF-EC1F-4B86-A542-6398B12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Safety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90739-87FE-46D9-9447-0BB94787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Executable allowlist, argument arrays, validated working directories, timeouts, and isolated workspace copies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BF8BC-28C2-4CA8-A1D8-F310165A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02DC2-5CBC-4431-A63F-118C1A5D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149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Markdown report, JSON state, exploit test, patched Solidity, and unified diff</a:t>
            </a:r>
          </a:p>
        </p:txBody>
      </p:sp>
    </p:spTree>
    <p:extLst>
      <p:ext uri="{BB962C8B-B14F-4D97-AF65-F5344CB8AC3E}">
        <p14:creationId xmlns:p14="http://schemas.microsoft.com/office/powerpoint/2010/main" val="103059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5FF4A-5280-4430-81F5-073DBF64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A4504-C581-4B4D-A096-C38289E1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Implementation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6F6A6-0984-48FC-83F3-93C6287F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FF515-99ED-4350-85A2-99B8A7D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9F6EA-7A17-4316-A624-9E6933EC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Controlled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4F2B5-D934-4E6E-B381-53A42AA9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6308A-ADFD-4E89-A0DB-B11B688B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Executes allowlisted tools with timeouts and validated paths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E5CD8-150A-41EC-A377-C59663E0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Scout adapters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1DE9F-2782-4960-B131-04D9B065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4655A-C341-4CCA-9527-B9678898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Parse Slither and Mythril JSON into normalized findings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1B779-4E69-4917-95CA-CCECD676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PoC generator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3EDEA-7A14-486D-A19E-9F74655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F91E0-CB2A-47C1-9515-F66D64D9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Creates reviewed fixture tests or provider-generated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BF869-7DEE-4B4B-BACC-A1EF19B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Patch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D8A59-1688-43A2-ADA8-44FBB3A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506E5-7417-4854-80DA-BF664912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Applies scoped templates or validated unified diffs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06BBE-C779-4B0B-ACC1-391E1020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A9E6A-0675-40BE-80EA-3EFBCF9F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6308C-0DDD-41FA-8F57-EA86683E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Runs build, exploit replay, regression tests, and optional oracles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18767-2B91-483A-A9DF-D2EF09B5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Reporter and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462CC-ECB3-416C-9C74-7D1A5B17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E7F6A-2443-41A0-B324-83C2BEC7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Exposes timelines, counts, artifacts, conclusions, and scan history</a:t>
            </a:r>
          </a:p>
        </p:txBody>
      </p:sp>
    </p:spTree>
    <p:extLst>
      <p:ext uri="{BB962C8B-B14F-4D97-AF65-F5344CB8AC3E}">
        <p14:creationId xmlns:p14="http://schemas.microsoft.com/office/powerpoint/2010/main" val="1765872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B633A-9674-4676-AB96-1A7276EC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B2F0F-9DDA-4796-B2DC-898E9C5B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Testing and benchmark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A551B-EA64-4048-8DAB-6C2964BE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64171-180A-49AD-AAE4-2504F64B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970AE-4E8F-4BFA-ABE2-50158676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8B6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8B68"/>
                </a:solidFill>
                <a:latin typeface="Arial"/>
                <a:ea typeface="Arial"/>
                <a:cs typeface="Arial"/>
              </a:rPr>
              <a:t>82 / 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51CD9-0F0A-4B95-8389-D60482BF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automated tests passed in 6.16 seconds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762500" y="1257300"/>
          <a:ext xmlns:a="http://schemas.openxmlformats.org/drawingml/2006/main" cx="6572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8d5aa1dab048e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0D75E-4AA7-49F1-B574-8903033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01E19-3AE7-4270-9754-A64A334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exploits confirmed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14515-6DEB-4A85-B727-6C0079F5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F5D3F-B8E2-4946-B018-118F08D4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67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repairs validated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AEF46-130F-43B6-85D6-7864A35F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31.226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AFFEF-2950-4448-A3C6-D3DA3A85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mean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F76C5-F60D-400D-875B-913786C5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These are known fixture results. Detection precision, recall, F1, and false-positive rate remain unavailable because analyzer coverage was incomplete and no clean controls were included.</a:t>
            </a:r>
          </a:p>
        </p:txBody>
      </p:sp>
    </p:spTree>
    <p:extLst>
      <p:ext uri="{BB962C8B-B14F-4D97-AF65-F5344CB8AC3E}">
        <p14:creationId xmlns:p14="http://schemas.microsoft.com/office/powerpoint/2010/main" val="21342003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4B219-06E8-4453-8A36-08740239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2D60A-11FF-41B8-86BF-08A21815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Reports and front-end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F594C-2A20-44AE-AAAB-93F8B5B9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A4003-1162-4D1A-8B0B-E7B5CA25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EEE83-5553-4E57-BB44-3FFA67F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Every scan should answer four simple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3E361-E438-408A-A5F5-7919CAB7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E9C0F-2DFD-47D0-8215-DCC16E6D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C706E-D386-4BA4-B64B-732656B2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47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was scanned?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F4E4F-5770-4E32-82DE-10458F0E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Project path, profile, tools, timestamps, and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97EEC-73D8-4E5F-BDF9-2B6911F8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31999-D47C-4C14-8B95-38DA5F3C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CF3C7-5FA5-4487-B957-622D7034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was found?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0A745-9308-4D19-A158-7D406290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Finding count, confirmed bug count, severity, and source location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06886-4833-458E-B719-C2B9C1AA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4A874-39C3-4A3A-A9B8-290D9254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A79E7-F140-4043-962D-D153906C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57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changed?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EDE2B-8296-496C-9D86-49B5F6A6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Patched files, unified diff, PoC, and saved artifact paths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8ADFD-6DC2-4F7B-820C-C5276A1F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6347F-689E-45CC-A35D-D6A12A3F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70DD2-C975-4987-9457-B478CECE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Why this result?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1A40E-E07D-4604-AF5C-0FB3AF3E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Phase conclusions, command evidence, retries, and final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5C256-0574-4C39-A875-23DF2BE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Possible final states: verified, discarded, execution unavailable, coverage incomplete, or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2376206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EEE3F-3299-479D-9B32-8A384E0C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C2D9D-3F2C-414E-AF32-CE71C948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9162B-F5BA-4DBE-89DE-0BD062D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F7257-BD63-4B16-B098-59AE0AA1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1A157-F186-4F2D-8162-4234757B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Sentinel turns disconnected security outputs into a traceable assessment process.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D455A-C643-4C2E-859C-45138A33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8319C-79FA-406D-825D-0AC88AC0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1D66F-402E-470E-9DE0-7CDB025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vulnerability advances only after an executable test demonstrates impact.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6FF39-E9DB-413F-95C7-49FA71FF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DB50A-A887-485C-98CB-123B6095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Controlled 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80A72-9183-48E4-BF19-8F68E65B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The system changes an isolated copy and preserves a reviewable diff.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0A2FF-E46C-4D28-AA0F-0ED596D0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9FE21-C407-4DDE-9D0B-362E2D17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5C00D-E731-4DFA-9D59-24102C15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Forge compilation, exploit replay, and regression tests control acceptance.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3273A-51A9-476D-A512-257753C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3CFF8-C89B-4C50-B2DF-29CD1671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Transparent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8D59E-C40E-43D6-8C12-6FC440E3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24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Tool failures and missing benchmark denominators remain visible in the report.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21D1D-28BD-4C2F-90C0-85F840E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Current evidence validates the four reviewed fixture workflows. The next step is a held-out benchmark with clean controls and complete analyzer coverage.</a:t>
            </a:r>
          </a:p>
        </p:txBody>
      </p:sp>
    </p:spTree>
    <p:extLst>
      <p:ext uri="{BB962C8B-B14F-4D97-AF65-F5344CB8AC3E}">
        <p14:creationId xmlns:p14="http://schemas.microsoft.com/office/powerpoint/2010/main" val="2062374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2026-09-28T03:46:02.4930000Z</dcterms:created>
  <dcterms:modified xsi:type="dcterms:W3CDTF">2026-09-28T03:46:02.4930000Z</dcterms:modified>
</coreProperties>
</file>