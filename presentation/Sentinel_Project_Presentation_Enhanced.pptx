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7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Team and USNs supplied by the user. Project description from README.md and the revised manuscript.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manuscript Introduction, Abstract, and Background.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manuscript Problem and Design Goals.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manuscript Design Requirements and repository reporting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paper references for Slither, Mythril context, PoCo, Prompt to Pwn, SmartFix, ContractTinker, and SCPatcher.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README.md Architecture and manuscript System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expanded architecture figure in docs/sentinel_revised.tex. Diagram remains editable.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README.md Five operational phases and workflow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pyproject.toml and README.md.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manuscript Limitations and Baseline/Ablation Status.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manuscript Conclusion and repository implementation status.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AED06FA-49AE-4B0F-A441-CD30B4BAF01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9550" cy="6858000"/>
          </a:xfrm>
          <a:prstGeom prst="rect">
            <a:avLst/>
          </a:prstGeom>
          <a:solidFill>
            <a:srgbClr val="37D5D2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5675FD9-CD1E-4615-B024-2545DFDA037F}"/>
              </a:ext>
            </a:extLst>
          </p:cNvPr>
          <p:cNvSpPr>
            <a:spLocks noGrp="1"/>
          </p:cNvSpPr>
          <p:nvPr/>
        </p:nvSpPr>
        <p:spPr>
          <a:xfrm>
            <a:off x="7048500" y="0"/>
            <a:ext cx="5143500" cy="6858000"/>
          </a:xfrm>
          <a:prstGeom prst="rect">
            <a:avLst/>
          </a:prstGeom>
          <a:solidFill>
            <a:srgbClr val="0E2A4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915969-E00A-456C-8457-2EFDCB30A7AC}"/>
              </a:ext>
            </a:extLst>
          </p:cNvPr>
          <p:cNvSpPr>
            <a:spLocks noGrp="1"/>
          </p:cNvSpPr>
          <p:nvPr/>
        </p:nvSpPr>
        <p:spPr>
          <a:xfrm>
            <a:off x="685800" y="523875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37D5D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7D5D2"/>
                </a:solidFill>
                <a:latin typeface="Arial"/>
                <a:ea typeface="Arial"/>
                <a:cs typeface="Arial"/>
              </a:rPr>
              <a:t>SENTINEL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EEB1FB-D8E6-4517-945A-D0F0E7EAF015}"/>
              </a:ext>
            </a:extLst>
          </p:cNvPr>
          <p:cNvSpPr>
            <a:spLocks noGrp="1"/>
          </p:cNvSpPr>
          <p:nvPr/>
        </p:nvSpPr>
        <p:spPr>
          <a:xfrm>
            <a:off x="685800" y="1095375"/>
            <a:ext cx="5905500" cy="19526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3000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Evidence-guided smart contract</a:t>
            </a:r>
          </a:p>
          <a:p>
            <a:pPr>
              <a:defRPr sz="3000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vulnerability confirmation</a:t>
            </a:r>
          </a:p>
          <a:p>
            <a:pPr>
              <a:defRPr sz="3000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and closed-loop repair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184634-1456-447B-B3AD-B742A8175A32}"/>
              </a:ext>
            </a:extLst>
          </p:cNvPr>
          <p:cNvSpPr>
            <a:spLocks noGrp="1"/>
          </p:cNvSpPr>
          <p:nvPr/>
        </p:nvSpPr>
        <p:spPr>
          <a:xfrm>
            <a:off x="704850" y="3352800"/>
            <a:ext cx="409575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75" b="0">
                <a:solidFill>
                  <a:srgbClr val="C6D8E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6D8E5"/>
                </a:solidFill>
                <a:latin typeface="Arial"/>
                <a:ea typeface="Arial"/>
                <a:cs typeface="Arial"/>
              </a:rPr>
              <a:t>Major Project Presentation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04916F-DFC2-4B96-AF66-1E6132CFA1D4}"/>
              </a:ext>
            </a:extLst>
          </p:cNvPr>
          <p:cNvSpPr>
            <a:spLocks noGrp="1"/>
          </p:cNvSpPr>
          <p:nvPr/>
        </p:nvSpPr>
        <p:spPr>
          <a:xfrm>
            <a:off x="704850" y="4000500"/>
            <a:ext cx="5238750" cy="28575"/>
          </a:xfrm>
          <a:prstGeom prst="rect">
            <a:avLst/>
          </a:prstGeom>
          <a:solidFill>
            <a:srgbClr val="FFAA3B"/>
          </a:solidFill>
          <a:ln w="0">
            <a:noFill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5AD5DF-0127-4597-B3AB-9E04DE77343E}"/>
              </a:ext>
            </a:extLst>
          </p:cNvPr>
          <p:cNvSpPr>
            <a:spLocks noGrp="1"/>
          </p:cNvSpPr>
          <p:nvPr/>
        </p:nvSpPr>
        <p:spPr>
          <a:xfrm>
            <a:off x="704850" y="4267200"/>
            <a:ext cx="5429250" cy="9048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75" b="0">
                <a:solidFill>
                  <a:srgbClr val="C6D8E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6D8E5"/>
                </a:solidFill>
                <a:latin typeface="Arial"/>
                <a:ea typeface="Arial"/>
                <a:cs typeface="Arial"/>
              </a:rPr>
              <a:t>A local workflow that connects analyzer findings, executable attacks, guarded patches, and deterministic validation.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737450-5E4B-467A-89C3-11BC3699DC4F}"/>
              </a:ext>
            </a:extLst>
          </p:cNvPr>
          <p:cNvSpPr>
            <a:spLocks noGrp="1"/>
          </p:cNvSpPr>
          <p:nvPr/>
        </p:nvSpPr>
        <p:spPr>
          <a:xfrm>
            <a:off x="7524750" y="523875"/>
            <a:ext cx="3619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1">
                <a:solidFill>
                  <a:srgbClr val="37D5D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7D5D2"/>
                </a:solidFill>
                <a:latin typeface="Arial"/>
                <a:ea typeface="Arial"/>
                <a:cs typeface="Arial"/>
              </a:rPr>
              <a:t>PROJECT TEAM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37FEB21-05DA-4AA5-875A-056C53519F04}"/>
              </a:ext>
            </a:extLst>
          </p:cNvPr>
          <p:cNvSpPr>
            <a:spLocks noGrp="1"/>
          </p:cNvSpPr>
          <p:nvPr/>
        </p:nvSpPr>
        <p:spPr>
          <a:xfrm>
            <a:off x="7524750" y="1066800"/>
            <a:ext cx="30480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K R Pranav Swaroop Reddy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B604A5-E78E-47E9-8748-E02894F4D43B}"/>
              </a:ext>
            </a:extLst>
          </p:cNvPr>
          <p:cNvSpPr>
            <a:spLocks noGrp="1"/>
          </p:cNvSpPr>
          <p:nvPr/>
        </p:nvSpPr>
        <p:spPr>
          <a:xfrm>
            <a:off x="7524750" y="133350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91A9B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1A9BA"/>
                </a:solidFill>
                <a:latin typeface="Arial"/>
                <a:ea typeface="Arial"/>
                <a:cs typeface="Arial"/>
              </a:rPr>
              <a:t>1BM23IC030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E2235E-81DF-4BCF-BB82-18E2A172DEF9}"/>
              </a:ext>
            </a:extLst>
          </p:cNvPr>
          <p:cNvSpPr>
            <a:spLocks noGrp="1"/>
          </p:cNvSpPr>
          <p:nvPr/>
        </p:nvSpPr>
        <p:spPr>
          <a:xfrm>
            <a:off x="7524750" y="1733550"/>
            <a:ext cx="30480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Chinmay Hegde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9C773B-4203-4C09-9883-84B961D8673C}"/>
              </a:ext>
            </a:extLst>
          </p:cNvPr>
          <p:cNvSpPr>
            <a:spLocks noGrp="1"/>
          </p:cNvSpPr>
          <p:nvPr/>
        </p:nvSpPr>
        <p:spPr>
          <a:xfrm>
            <a:off x="7524750" y="200025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91A9B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1A9BA"/>
                </a:solidFill>
                <a:latin typeface="Arial"/>
                <a:ea typeface="Arial"/>
                <a:cs typeface="Arial"/>
              </a:rPr>
              <a:t>1BM23IC021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831305-834D-4E7C-AA36-5D1D849E4C76}"/>
              </a:ext>
            </a:extLst>
          </p:cNvPr>
          <p:cNvSpPr>
            <a:spLocks noGrp="1"/>
          </p:cNvSpPr>
          <p:nvPr/>
        </p:nvSpPr>
        <p:spPr>
          <a:xfrm>
            <a:off x="7524750" y="2400300"/>
            <a:ext cx="30480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Jnan Dev B 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EFF5611-996F-4D4D-AF37-2948ABA71F6E}"/>
              </a:ext>
            </a:extLst>
          </p:cNvPr>
          <p:cNvSpPr>
            <a:spLocks noGrp="1"/>
          </p:cNvSpPr>
          <p:nvPr/>
        </p:nvSpPr>
        <p:spPr>
          <a:xfrm>
            <a:off x="7524750" y="266700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91A9B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1A9BA"/>
                </a:solidFill>
                <a:latin typeface="Arial"/>
                <a:ea typeface="Arial"/>
                <a:cs typeface="Arial"/>
              </a:rPr>
              <a:t>1BM23IC027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403B049-D05F-4B3D-8419-71471911799A}"/>
              </a:ext>
            </a:extLst>
          </p:cNvPr>
          <p:cNvSpPr>
            <a:spLocks noGrp="1"/>
          </p:cNvSpPr>
          <p:nvPr/>
        </p:nvSpPr>
        <p:spPr>
          <a:xfrm>
            <a:off x="7524750" y="3067050"/>
            <a:ext cx="30480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Suhas 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E4FE191-C82A-4A40-B80C-7774D7115AC1}"/>
              </a:ext>
            </a:extLst>
          </p:cNvPr>
          <p:cNvSpPr>
            <a:spLocks noGrp="1"/>
          </p:cNvSpPr>
          <p:nvPr/>
        </p:nvSpPr>
        <p:spPr>
          <a:xfrm>
            <a:off x="7524750" y="333375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91A9B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1A9BA"/>
                </a:solidFill>
                <a:latin typeface="Arial"/>
                <a:ea typeface="Arial"/>
                <a:cs typeface="Arial"/>
              </a:rPr>
              <a:t>1BM23IC066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EB7236D-845A-4DA1-A195-E152383513A6}"/>
              </a:ext>
            </a:extLst>
          </p:cNvPr>
          <p:cNvSpPr>
            <a:spLocks noGrp="1"/>
          </p:cNvSpPr>
          <p:nvPr/>
        </p:nvSpPr>
        <p:spPr>
          <a:xfrm>
            <a:off x="7524750" y="3905250"/>
            <a:ext cx="3714750" cy="9525"/>
          </a:xfrm>
          <a:prstGeom prst="rect">
            <a:avLst/>
          </a:prstGeom>
          <a:solidFill>
            <a:srgbClr val="2A4A61"/>
          </a:solidFill>
          <a:ln w="0">
            <a:noFill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39EB088-EE6C-4462-9C98-D200EC2B299C}"/>
              </a:ext>
            </a:extLst>
          </p:cNvPr>
          <p:cNvSpPr>
            <a:spLocks noGrp="1"/>
          </p:cNvSpPr>
          <p:nvPr/>
        </p:nvSpPr>
        <p:spPr>
          <a:xfrm>
            <a:off x="7524750" y="4095750"/>
            <a:ext cx="95250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1">
                <a:solidFill>
                  <a:srgbClr val="37D5D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7D5D2"/>
                </a:solidFill>
                <a:latin typeface="Arial"/>
                <a:ea typeface="Arial"/>
                <a:cs typeface="Arial"/>
              </a:rPr>
              <a:t>GUIDE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FDFA83E-39C3-4837-A231-44D5B0D25ED8}"/>
              </a:ext>
            </a:extLst>
          </p:cNvPr>
          <p:cNvSpPr>
            <a:spLocks noGrp="1"/>
          </p:cNvSpPr>
          <p:nvPr/>
        </p:nvSpPr>
        <p:spPr>
          <a:xfrm>
            <a:off x="7524750" y="4400550"/>
            <a:ext cx="33337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Manjunath D. R.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37A9A0B-3A00-4BE3-B904-C84E75FD6B33}"/>
              </a:ext>
            </a:extLst>
          </p:cNvPr>
          <p:cNvSpPr>
            <a:spLocks noGrp="1"/>
          </p:cNvSpPr>
          <p:nvPr/>
        </p:nvSpPr>
        <p:spPr>
          <a:xfrm>
            <a:off x="7524750" y="4857750"/>
            <a:ext cx="390525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C6D8E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6D8E5"/>
                </a:solidFill>
                <a:latin typeface="Arial"/>
                <a:ea typeface="Arial"/>
                <a:cs typeface="Arial"/>
              </a:rPr>
              <a:t>Department of Computer Science and Engineering</a:t>
            </a:r>
          </a:p>
          <a:p>
            <a:pPr>
              <a:defRPr sz="1125" b="0">
                <a:solidFill>
                  <a:srgbClr val="C6D8E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6D8E5"/>
                </a:solidFill>
                <a:latin typeface="Arial"/>
                <a:ea typeface="Arial"/>
                <a:cs typeface="Arial"/>
              </a:rPr>
              <a:t>IoT and Cybersecurity including Blockchain Technology</a:t>
            </a:r>
          </a:p>
          <a:p>
            <a:pPr>
              <a:defRPr sz="1125" b="0">
                <a:solidFill>
                  <a:srgbClr val="C6D8E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6D8E5"/>
                </a:solidFill>
                <a:latin typeface="Arial"/>
                <a:ea typeface="Arial"/>
                <a:cs typeface="Arial"/>
              </a:rPr>
              <a:t>B.M.S. College of Engineering, Bengaluru</a:t>
            </a:r>
          </a:p>
        </p:txBody>
      </p:sp>
    </p:spTree>
    <p:extLst>
      <p:ext uri="{BB962C8B-B14F-4D97-AF65-F5344CB8AC3E}">
        <p14:creationId xmlns:p14="http://schemas.microsoft.com/office/powerpoint/2010/main" val="748961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3776486-A000-4440-A6ED-61E4DC82F85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37D5D2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DE4DE1-6774-445A-A9C6-9F263E463436}"/>
              </a:ext>
            </a:extLst>
          </p:cNvPr>
          <p:cNvSpPr>
            <a:spLocks noGrp="1"/>
          </p:cNvSpPr>
          <p:nvPr/>
        </p:nvSpPr>
        <p:spPr>
          <a:xfrm>
            <a:off x="647700" y="304800"/>
            <a:ext cx="20955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75" b="1">
                <a:solidFill>
                  <a:srgbClr val="37D5D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7D5D2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17852B-E3D3-411B-9B0C-C7E55FA8F523}"/>
              </a:ext>
            </a:extLst>
          </p:cNvPr>
          <p:cNvSpPr>
            <a:spLocks noGrp="1"/>
          </p:cNvSpPr>
          <p:nvPr/>
        </p:nvSpPr>
        <p:spPr>
          <a:xfrm>
            <a:off x="647700" y="590550"/>
            <a:ext cx="10572750" cy="5334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550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Why smart contract repair needs executable evidence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502052-3851-4EDB-8DD4-D5D726DF45B0}"/>
              </a:ext>
            </a:extLst>
          </p:cNvPr>
          <p:cNvSpPr>
            <a:spLocks noGrp="1"/>
          </p:cNvSpPr>
          <p:nvPr/>
        </p:nvSpPr>
        <p:spPr>
          <a:xfrm>
            <a:off x="647700" y="1190625"/>
            <a:ext cx="10877550" cy="19050"/>
          </a:xfrm>
          <a:prstGeom prst="rect">
            <a:avLst/>
          </a:prstGeom>
          <a:solidFill>
            <a:srgbClr val="2A4A61"/>
          </a:solidFill>
          <a:ln w="0">
            <a:noFill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D5CFFC-AA8B-405B-9F84-0882EF60E474}"/>
              </a:ext>
            </a:extLst>
          </p:cNvPr>
          <p:cNvSpPr>
            <a:spLocks noGrp="1"/>
          </p:cNvSpPr>
          <p:nvPr/>
        </p:nvSpPr>
        <p:spPr>
          <a:xfrm>
            <a:off x="11144250" y="323850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1">
                <a:solidFill>
                  <a:srgbClr val="91A9B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1A9B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D731B3-3E8E-4404-8E66-6E064D45E3F8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Smart contracts execute financial and access-control rules exactly as written. A coding defect can therefore expose funds or privileges without a traditional recovery process.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460E66-5873-48C1-95F1-7699043FE9A7}"/>
              </a:ext>
            </a:extLst>
          </p:cNvPr>
          <p:cNvSpPr>
            <a:spLocks noGrp="1"/>
          </p:cNvSpPr>
          <p:nvPr/>
        </p:nvSpPr>
        <p:spPr>
          <a:xfrm>
            <a:off x="704850" y="2428875"/>
            <a:ext cx="45720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00" b="1">
                <a:solidFill>
                  <a:srgbClr val="37D5D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7D5D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725EA7-372C-429F-A4A9-C654E30CA6BA}"/>
              </a:ext>
            </a:extLst>
          </p:cNvPr>
          <p:cNvSpPr>
            <a:spLocks noGrp="1"/>
          </p:cNvSpPr>
          <p:nvPr/>
        </p:nvSpPr>
        <p:spPr>
          <a:xfrm>
            <a:off x="1352550" y="2400300"/>
            <a:ext cx="28575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75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Analyzers find candidates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1E4F15-5DBC-466B-8A07-F2F2A9EED238}"/>
              </a:ext>
            </a:extLst>
          </p:cNvPr>
          <p:cNvSpPr>
            <a:spLocks noGrp="1"/>
          </p:cNvSpPr>
          <p:nvPr/>
        </p:nvSpPr>
        <p:spPr>
          <a:xfrm>
            <a:off x="4286250" y="2390775"/>
            <a:ext cx="695325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C6D8E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6D8E5"/>
                </a:solidFill>
                <a:latin typeface="Arial"/>
                <a:ea typeface="Arial"/>
                <a:cs typeface="Arial"/>
              </a:rPr>
              <a:t>Slither and Mythril identify suspicious code patterns and execution paths, but their warnings use different formats and confidence signals.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EBFE29-2A80-4368-8E8D-0F96295AF5CF}"/>
              </a:ext>
            </a:extLst>
          </p:cNvPr>
          <p:cNvSpPr>
            <a:spLocks noGrp="1"/>
          </p:cNvSpPr>
          <p:nvPr/>
        </p:nvSpPr>
        <p:spPr>
          <a:xfrm>
            <a:off x="704850" y="3381375"/>
            <a:ext cx="45720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00" b="1">
                <a:solidFill>
                  <a:srgbClr val="37D5D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7D5D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56CA2D-17BE-4413-9E20-7D128134B70F}"/>
              </a:ext>
            </a:extLst>
          </p:cNvPr>
          <p:cNvSpPr>
            <a:spLocks noGrp="1"/>
          </p:cNvSpPr>
          <p:nvPr/>
        </p:nvSpPr>
        <p:spPr>
          <a:xfrm>
            <a:off x="1352550" y="3352800"/>
            <a:ext cx="28575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75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Exploit tests confirm impact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309ABE-40C9-48BB-B387-5A43E9F3D6A1}"/>
              </a:ext>
            </a:extLst>
          </p:cNvPr>
          <p:cNvSpPr>
            <a:spLocks noGrp="1"/>
          </p:cNvSpPr>
          <p:nvPr/>
        </p:nvSpPr>
        <p:spPr>
          <a:xfrm>
            <a:off x="4286250" y="3343275"/>
            <a:ext cx="695325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C6D8E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6D8E5"/>
                </a:solidFill>
                <a:latin typeface="Arial"/>
                <a:ea typeface="Arial"/>
                <a:cs typeface="Arial"/>
              </a:rPr>
              <a:t>A Foundry test turns a warning into observable project-specific evidence by reproducing the attack in a local EVM.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155BB2-4E73-4394-9679-8E6D01668463}"/>
              </a:ext>
            </a:extLst>
          </p:cNvPr>
          <p:cNvSpPr>
            <a:spLocks noGrp="1"/>
          </p:cNvSpPr>
          <p:nvPr/>
        </p:nvSpPr>
        <p:spPr>
          <a:xfrm>
            <a:off x="704850" y="4333875"/>
            <a:ext cx="45720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00" b="1">
                <a:solidFill>
                  <a:srgbClr val="37D5D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7D5D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2FF5991-1E23-4299-AB4B-110F69E4DE24}"/>
              </a:ext>
            </a:extLst>
          </p:cNvPr>
          <p:cNvSpPr>
            <a:spLocks noGrp="1"/>
          </p:cNvSpPr>
          <p:nvPr/>
        </p:nvSpPr>
        <p:spPr>
          <a:xfrm>
            <a:off x="1352550" y="4305300"/>
            <a:ext cx="28575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75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Validation checks the repair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2744A97-E419-4C76-A0B8-4B20538C9793}"/>
              </a:ext>
            </a:extLst>
          </p:cNvPr>
          <p:cNvSpPr>
            <a:spLocks noGrp="1"/>
          </p:cNvSpPr>
          <p:nvPr/>
        </p:nvSpPr>
        <p:spPr>
          <a:xfrm>
            <a:off x="4286250" y="4295775"/>
            <a:ext cx="695325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C6D8E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6D8E5"/>
                </a:solidFill>
                <a:latin typeface="Arial"/>
                <a:ea typeface="Arial"/>
                <a:cs typeface="Arial"/>
              </a:rPr>
              <a:t>Compilation alone is insufficient. The same exploit must fail after patching while the project’s normal tests continue to pass.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6F15DFD-FD13-450B-B902-72BBC8BA4D70}"/>
              </a:ext>
            </a:extLst>
          </p:cNvPr>
          <p:cNvSpPr>
            <a:spLocks noGrp="1"/>
          </p:cNvSpPr>
          <p:nvPr/>
        </p:nvSpPr>
        <p:spPr>
          <a:xfrm>
            <a:off x="666750" y="5619750"/>
            <a:ext cx="1066800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1">
                <a:solidFill>
                  <a:srgbClr val="37D5D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7D5D2"/>
                </a:solidFill>
                <a:latin typeface="Arial"/>
                <a:ea typeface="Arial"/>
                <a:cs typeface="Arial"/>
              </a:rPr>
              <a:t>Sentinel joins these three activities and records the evidence from every phase.</a:t>
            </a:r>
          </a:p>
        </p:txBody>
      </p:sp>
    </p:spTree>
    <p:extLst>
      <p:ext uri="{BB962C8B-B14F-4D97-AF65-F5344CB8AC3E}">
        <p14:creationId xmlns:p14="http://schemas.microsoft.com/office/powerpoint/2010/main" val="261425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FDB9B898-C6C1-4C0E-AA64-DFED919809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37D5D2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F72896-D106-404B-8F8D-AE857D55C8B3}"/>
              </a:ext>
            </a:extLst>
          </p:cNvPr>
          <p:cNvSpPr>
            <a:spLocks noGrp="1"/>
          </p:cNvSpPr>
          <p:nvPr/>
        </p:nvSpPr>
        <p:spPr>
          <a:xfrm>
            <a:off x="647700" y="304800"/>
            <a:ext cx="20955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75" b="1">
                <a:solidFill>
                  <a:srgbClr val="37D5D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7D5D2"/>
                </a:solidFill>
                <a:latin typeface="Arial"/>
                <a:ea typeface="Arial"/>
                <a:cs typeface="Arial"/>
              </a:rPr>
              <a:t>RESEARCH NEED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5EE94C-A779-4884-8A84-4662764552FF}"/>
              </a:ext>
            </a:extLst>
          </p:cNvPr>
          <p:cNvSpPr>
            <a:spLocks noGrp="1"/>
          </p:cNvSpPr>
          <p:nvPr/>
        </p:nvSpPr>
        <p:spPr>
          <a:xfrm>
            <a:off x="647700" y="590550"/>
            <a:ext cx="10572750" cy="5334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550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Problem statement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216E91-4B65-4433-AAE2-91AAA1B0A8CE}"/>
              </a:ext>
            </a:extLst>
          </p:cNvPr>
          <p:cNvSpPr>
            <a:spLocks noGrp="1"/>
          </p:cNvSpPr>
          <p:nvPr/>
        </p:nvSpPr>
        <p:spPr>
          <a:xfrm>
            <a:off x="647700" y="1190625"/>
            <a:ext cx="10877550" cy="19050"/>
          </a:xfrm>
          <a:prstGeom prst="rect">
            <a:avLst/>
          </a:prstGeom>
          <a:solidFill>
            <a:srgbClr val="2A4A61"/>
          </a:solidFill>
          <a:ln w="0">
            <a:noFill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30E1C8-ACCB-47EC-9C94-446D655EBAD5}"/>
              </a:ext>
            </a:extLst>
          </p:cNvPr>
          <p:cNvSpPr>
            <a:spLocks noGrp="1"/>
          </p:cNvSpPr>
          <p:nvPr/>
        </p:nvSpPr>
        <p:spPr>
          <a:xfrm>
            <a:off x="11144250" y="323850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1">
                <a:solidFill>
                  <a:srgbClr val="91A9B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1A9B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A26497-C8B0-4E9E-9724-C49EE06A04C9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106680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100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Developers currently perform the most important reasoning between tools by hand.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7EF049-6A1E-4971-BF24-E30FCBDE4176}"/>
              </a:ext>
            </a:extLst>
          </p:cNvPr>
          <p:cNvSpPr>
            <a:spLocks noGrp="1"/>
          </p:cNvSpPr>
          <p:nvPr/>
        </p:nvSpPr>
        <p:spPr>
          <a:xfrm>
            <a:off x="723900" y="2276475"/>
            <a:ext cx="76200" cy="495300"/>
          </a:xfrm>
          <a:prstGeom prst="rect">
            <a:avLst/>
          </a:prstGeom>
          <a:solidFill>
            <a:srgbClr val="37D5D2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001B22-2AB2-4DE8-B38E-5FBE672064F3}"/>
              </a:ext>
            </a:extLst>
          </p:cNvPr>
          <p:cNvSpPr>
            <a:spLocks noGrp="1"/>
          </p:cNvSpPr>
          <p:nvPr/>
        </p:nvSpPr>
        <p:spPr>
          <a:xfrm>
            <a:off x="1047750" y="2238375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75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Fragmented evidence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C87709-F944-4B84-8CB2-26F6879C2638}"/>
              </a:ext>
            </a:extLst>
          </p:cNvPr>
          <p:cNvSpPr>
            <a:spLocks noGrp="1"/>
          </p:cNvSpPr>
          <p:nvPr/>
        </p:nvSpPr>
        <p:spPr>
          <a:xfrm>
            <a:off x="4095750" y="2238375"/>
            <a:ext cx="695325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C6D8E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6D8E5"/>
                </a:solidFill>
                <a:latin typeface="Arial"/>
                <a:ea typeface="Arial"/>
                <a:cs typeface="Arial"/>
              </a:rPr>
              <a:t>Static and symbolic analyzers return different schemas, locations, and severity labels.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582A8D-BF4F-4531-B39C-74A231EA59C7}"/>
              </a:ext>
            </a:extLst>
          </p:cNvPr>
          <p:cNvSpPr>
            <a:spLocks noGrp="1"/>
          </p:cNvSpPr>
          <p:nvPr/>
        </p:nvSpPr>
        <p:spPr>
          <a:xfrm>
            <a:off x="723900" y="3152775"/>
            <a:ext cx="76200" cy="495300"/>
          </a:xfrm>
          <a:prstGeom prst="rect">
            <a:avLst/>
          </a:prstGeom>
          <a:solidFill>
            <a:srgbClr val="37D5D2"/>
          </a:solidFill>
          <a:ln w="0">
            <a:noFill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629145-FB24-4A97-8658-03215DFC20D7}"/>
              </a:ext>
            </a:extLst>
          </p:cNvPr>
          <p:cNvSpPr>
            <a:spLocks noGrp="1"/>
          </p:cNvSpPr>
          <p:nvPr/>
        </p:nvSpPr>
        <p:spPr>
          <a:xfrm>
            <a:off x="1047750" y="3114675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75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Unconfirmed findings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2DE3EF-0A82-491A-A265-30F4CBE2B365}"/>
              </a:ext>
            </a:extLst>
          </p:cNvPr>
          <p:cNvSpPr>
            <a:spLocks noGrp="1"/>
          </p:cNvSpPr>
          <p:nvPr/>
        </p:nvSpPr>
        <p:spPr>
          <a:xfrm>
            <a:off x="4095750" y="3114675"/>
            <a:ext cx="695325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C6D8E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6D8E5"/>
                </a:solidFill>
                <a:latin typeface="Arial"/>
                <a:ea typeface="Arial"/>
                <a:cs typeface="Arial"/>
              </a:rPr>
              <a:t>A suspicious pattern may be unreachable or may not produce a meaningful security impact.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212F71-0A5D-45CF-9D97-5493373D70CC}"/>
              </a:ext>
            </a:extLst>
          </p:cNvPr>
          <p:cNvSpPr>
            <a:spLocks noGrp="1"/>
          </p:cNvSpPr>
          <p:nvPr/>
        </p:nvSpPr>
        <p:spPr>
          <a:xfrm>
            <a:off x="723900" y="4029075"/>
            <a:ext cx="76200" cy="495300"/>
          </a:xfrm>
          <a:prstGeom prst="rect">
            <a:avLst/>
          </a:prstGeom>
          <a:solidFill>
            <a:srgbClr val="37D5D2"/>
          </a:solidFill>
          <a:ln w="0">
            <a:noFill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A26AC99-B289-4CC1-9F5F-5E7A37B5AAD8}"/>
              </a:ext>
            </a:extLst>
          </p:cNvPr>
          <p:cNvSpPr>
            <a:spLocks noGrp="1"/>
          </p:cNvSpPr>
          <p:nvPr/>
        </p:nvSpPr>
        <p:spPr>
          <a:xfrm>
            <a:off x="1047750" y="3990975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75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Unsafe repair suggestions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B975960-2421-44F6-B9E5-61752555239F}"/>
              </a:ext>
            </a:extLst>
          </p:cNvPr>
          <p:cNvSpPr>
            <a:spLocks noGrp="1"/>
          </p:cNvSpPr>
          <p:nvPr/>
        </p:nvSpPr>
        <p:spPr>
          <a:xfrm>
            <a:off x="4095750" y="3990975"/>
            <a:ext cx="695325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C6D8E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6D8E5"/>
                </a:solidFill>
                <a:latin typeface="Arial"/>
                <a:ea typeface="Arial"/>
                <a:cs typeface="Arial"/>
              </a:rPr>
              <a:t>A generated patch can compile yet leave the exploit active or disable intended behavior.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98A47C1-71E6-4FEE-835B-77F11B9D082B}"/>
              </a:ext>
            </a:extLst>
          </p:cNvPr>
          <p:cNvSpPr>
            <a:spLocks noGrp="1"/>
          </p:cNvSpPr>
          <p:nvPr/>
        </p:nvSpPr>
        <p:spPr>
          <a:xfrm>
            <a:off x="723900" y="4905375"/>
            <a:ext cx="76200" cy="495300"/>
          </a:xfrm>
          <a:prstGeom prst="rect">
            <a:avLst/>
          </a:prstGeom>
          <a:solidFill>
            <a:srgbClr val="FFAA3B"/>
          </a:solidFill>
          <a:ln w="0">
            <a:noFill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8A1ACEF-C680-4904-9788-B4CAABC8EFAA}"/>
              </a:ext>
            </a:extLst>
          </p:cNvPr>
          <p:cNvSpPr>
            <a:spLocks noGrp="1"/>
          </p:cNvSpPr>
          <p:nvPr/>
        </p:nvSpPr>
        <p:spPr>
          <a:xfrm>
            <a:off x="1047750" y="4867275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75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Misleading incomplete runs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B005FD-0894-424E-9B65-9FF57C9AC668}"/>
              </a:ext>
            </a:extLst>
          </p:cNvPr>
          <p:cNvSpPr>
            <a:spLocks noGrp="1"/>
          </p:cNvSpPr>
          <p:nvPr/>
        </p:nvSpPr>
        <p:spPr>
          <a:xfrm>
            <a:off x="4095750" y="4867275"/>
            <a:ext cx="695325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C6D8E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6D8E5"/>
                </a:solidFill>
                <a:latin typeface="Arial"/>
                <a:ea typeface="Arial"/>
                <a:cs typeface="Arial"/>
              </a:rPr>
              <a:t>A timeout or missing analyzer must not be interpreted as a clean security result.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F17555F-6408-451B-9E38-ABEA79A2F9E3}"/>
              </a:ext>
            </a:extLst>
          </p:cNvPr>
          <p:cNvSpPr>
            <a:spLocks noGrp="1"/>
          </p:cNvSpPr>
          <p:nvPr/>
        </p:nvSpPr>
        <p:spPr>
          <a:xfrm>
            <a:off x="762000" y="5810250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75" b="1">
                <a:solidFill>
                  <a:srgbClr val="FFAA3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AA3B"/>
                </a:solidFill>
                <a:latin typeface="Arial"/>
                <a:ea typeface="Arial"/>
                <a:cs typeface="Arial"/>
              </a:rPr>
              <a:t>Required outcome: a reviewable decision backed by analyzer provenance, exploit execution, patch diff, and validation output.</a:t>
            </a:r>
          </a:p>
        </p:txBody>
      </p:sp>
    </p:spTree>
    <p:extLst>
      <p:ext uri="{BB962C8B-B14F-4D97-AF65-F5344CB8AC3E}">
        <p14:creationId xmlns:p14="http://schemas.microsoft.com/office/powerpoint/2010/main" val="864847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D8CD3040-2973-49C7-B6A4-494F5132535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37D5D2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3652A3-0825-47E4-BE05-B379292C54CE}"/>
              </a:ext>
            </a:extLst>
          </p:cNvPr>
          <p:cNvSpPr>
            <a:spLocks noGrp="1"/>
          </p:cNvSpPr>
          <p:nvPr/>
        </p:nvSpPr>
        <p:spPr>
          <a:xfrm>
            <a:off x="647700" y="304800"/>
            <a:ext cx="20955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75" b="1">
                <a:solidFill>
                  <a:srgbClr val="37D5D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7D5D2"/>
                </a:solidFill>
                <a:latin typeface="Arial"/>
                <a:ea typeface="Arial"/>
                <a:cs typeface="Arial"/>
              </a:rPr>
              <a:t>SCOPE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C7CE41-47E1-48DD-9D72-4D1D5CEB0AAA}"/>
              </a:ext>
            </a:extLst>
          </p:cNvPr>
          <p:cNvSpPr>
            <a:spLocks noGrp="1"/>
          </p:cNvSpPr>
          <p:nvPr/>
        </p:nvSpPr>
        <p:spPr>
          <a:xfrm>
            <a:off x="647700" y="590550"/>
            <a:ext cx="10572750" cy="5334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550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Project objectives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8EA7EA-94F8-45F9-B018-11D48CCCA6A9}"/>
              </a:ext>
            </a:extLst>
          </p:cNvPr>
          <p:cNvSpPr>
            <a:spLocks noGrp="1"/>
          </p:cNvSpPr>
          <p:nvPr/>
        </p:nvSpPr>
        <p:spPr>
          <a:xfrm>
            <a:off x="647700" y="1190625"/>
            <a:ext cx="10877550" cy="19050"/>
          </a:xfrm>
          <a:prstGeom prst="rect">
            <a:avLst/>
          </a:prstGeom>
          <a:solidFill>
            <a:srgbClr val="2A4A61"/>
          </a:solidFill>
          <a:ln w="0">
            <a:noFill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0F3A3D-852B-421F-A84E-2061321EFA07}"/>
              </a:ext>
            </a:extLst>
          </p:cNvPr>
          <p:cNvSpPr>
            <a:spLocks noGrp="1"/>
          </p:cNvSpPr>
          <p:nvPr/>
        </p:nvSpPr>
        <p:spPr>
          <a:xfrm>
            <a:off x="11144250" y="323850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1">
                <a:solidFill>
                  <a:srgbClr val="91A9B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1A9B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51EC8F-8F18-4493-8E6D-F2010DC40260}"/>
              </a:ext>
            </a:extLst>
          </p:cNvPr>
          <p:cNvSpPr>
            <a:spLocks noGrp="1"/>
          </p:cNvSpPr>
          <p:nvPr/>
        </p:nvSpPr>
        <p:spPr>
          <a:xfrm>
            <a:off x="666750" y="1476375"/>
            <a:ext cx="428625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1">
                <a:solidFill>
                  <a:srgbClr val="37D5D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7D5D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09527F-1370-4103-B6F2-EED294035D3C}"/>
              </a:ext>
            </a:extLst>
          </p:cNvPr>
          <p:cNvSpPr>
            <a:spLocks noGrp="1"/>
          </p:cNvSpPr>
          <p:nvPr/>
        </p:nvSpPr>
        <p:spPr>
          <a:xfrm>
            <a:off x="1257300" y="1438275"/>
            <a:ext cx="447675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75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Normalize evidence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45658B-94D6-46C9-96CE-BC424EE2C5D4}"/>
              </a:ext>
            </a:extLst>
          </p:cNvPr>
          <p:cNvSpPr>
            <a:spLocks noGrp="1"/>
          </p:cNvSpPr>
          <p:nvPr/>
        </p:nvSpPr>
        <p:spPr>
          <a:xfrm>
            <a:off x="1257300" y="1838325"/>
            <a:ext cx="4476750" cy="6953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C6D8E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6D8E5"/>
                </a:solidFill>
                <a:latin typeface="Arial"/>
                <a:ea typeface="Arial"/>
                <a:cs typeface="Arial"/>
              </a:rPr>
              <a:t>Convert Slither and Mythril output into one provenance-preserving finding model.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85C5E11-2028-47F8-AA03-6514D3D751E3}"/>
              </a:ext>
            </a:extLst>
          </p:cNvPr>
          <p:cNvSpPr>
            <a:spLocks noGrp="1"/>
          </p:cNvSpPr>
          <p:nvPr/>
        </p:nvSpPr>
        <p:spPr>
          <a:xfrm>
            <a:off x="6143625" y="1476375"/>
            <a:ext cx="428625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1">
                <a:solidFill>
                  <a:srgbClr val="37D5D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7D5D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61C96D-A1D2-47C6-BBDE-8BD2E8DAD1DA}"/>
              </a:ext>
            </a:extLst>
          </p:cNvPr>
          <p:cNvSpPr>
            <a:spLocks noGrp="1"/>
          </p:cNvSpPr>
          <p:nvPr/>
        </p:nvSpPr>
        <p:spPr>
          <a:xfrm>
            <a:off x="6734175" y="1438275"/>
            <a:ext cx="447675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75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Confirm vulnerabilities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00465B-FF84-4B32-A3BE-AEBA899C3333}"/>
              </a:ext>
            </a:extLst>
          </p:cNvPr>
          <p:cNvSpPr>
            <a:spLocks noGrp="1"/>
          </p:cNvSpPr>
          <p:nvPr/>
        </p:nvSpPr>
        <p:spPr>
          <a:xfrm>
            <a:off x="6734175" y="1838325"/>
            <a:ext cx="4476750" cy="6953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C6D8E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6D8E5"/>
                </a:solidFill>
                <a:latin typeface="Arial"/>
                <a:ea typeface="Arial"/>
                <a:cs typeface="Arial"/>
              </a:rPr>
              <a:t>Generate and execute a Foundry PoC before starting repair.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2B2EBD-3B40-4550-972E-B6D8E5BD23A6}"/>
              </a:ext>
            </a:extLst>
          </p:cNvPr>
          <p:cNvSpPr>
            <a:spLocks noGrp="1"/>
          </p:cNvSpPr>
          <p:nvPr/>
        </p:nvSpPr>
        <p:spPr>
          <a:xfrm>
            <a:off x="666750" y="3048000"/>
            <a:ext cx="428625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1">
                <a:solidFill>
                  <a:srgbClr val="37D5D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7D5D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C56095-CD3A-4944-BCC6-0B84A84F1501}"/>
              </a:ext>
            </a:extLst>
          </p:cNvPr>
          <p:cNvSpPr>
            <a:spLocks noGrp="1"/>
          </p:cNvSpPr>
          <p:nvPr/>
        </p:nvSpPr>
        <p:spPr>
          <a:xfrm>
            <a:off x="1257300" y="3009900"/>
            <a:ext cx="447675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75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Constrain code changes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593951-083C-47A2-AFEC-B750958A599C}"/>
              </a:ext>
            </a:extLst>
          </p:cNvPr>
          <p:cNvSpPr>
            <a:spLocks noGrp="1"/>
          </p:cNvSpPr>
          <p:nvPr/>
        </p:nvSpPr>
        <p:spPr>
          <a:xfrm>
            <a:off x="1257300" y="3409950"/>
            <a:ext cx="4476750" cy="6953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C6D8E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6D8E5"/>
                </a:solidFill>
                <a:latin typeface="Arial"/>
                <a:ea typeface="Arial"/>
                <a:cs typeface="Arial"/>
              </a:rPr>
              <a:t>Patch only existing project files inside an isolated workspace copy.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6DE71-82ED-4C7F-B913-AD3FF7F65388}"/>
              </a:ext>
            </a:extLst>
          </p:cNvPr>
          <p:cNvSpPr>
            <a:spLocks noGrp="1"/>
          </p:cNvSpPr>
          <p:nvPr/>
        </p:nvSpPr>
        <p:spPr>
          <a:xfrm>
            <a:off x="6143625" y="3048000"/>
            <a:ext cx="428625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1">
                <a:solidFill>
                  <a:srgbClr val="37D5D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7D5D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61719CE-69AD-4DFF-88D6-BB9B945E4353}"/>
              </a:ext>
            </a:extLst>
          </p:cNvPr>
          <p:cNvSpPr>
            <a:spLocks noGrp="1"/>
          </p:cNvSpPr>
          <p:nvPr/>
        </p:nvSpPr>
        <p:spPr>
          <a:xfrm>
            <a:off x="6734175" y="3009900"/>
            <a:ext cx="447675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75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Validate deterministically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722C79D-19BB-4509-B7EF-A056286C3593}"/>
              </a:ext>
            </a:extLst>
          </p:cNvPr>
          <p:cNvSpPr>
            <a:spLocks noGrp="1"/>
          </p:cNvSpPr>
          <p:nvPr/>
        </p:nvSpPr>
        <p:spPr>
          <a:xfrm>
            <a:off x="6734175" y="3409950"/>
            <a:ext cx="4476750" cy="6953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C6D8E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6D8E5"/>
                </a:solidFill>
                <a:latin typeface="Arial"/>
                <a:ea typeface="Arial"/>
                <a:cs typeface="Arial"/>
              </a:rPr>
              <a:t>Require build success, exploit defense, and regression success.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E2B5A90-265B-4ACF-9F31-76ED75C74379}"/>
              </a:ext>
            </a:extLst>
          </p:cNvPr>
          <p:cNvSpPr>
            <a:spLocks noGrp="1"/>
          </p:cNvSpPr>
          <p:nvPr/>
        </p:nvSpPr>
        <p:spPr>
          <a:xfrm>
            <a:off x="666750" y="4619625"/>
            <a:ext cx="428625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1">
                <a:solidFill>
                  <a:srgbClr val="37D5D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7D5D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4743BBD-7A8F-42E9-8572-B96E17EE3708}"/>
              </a:ext>
            </a:extLst>
          </p:cNvPr>
          <p:cNvSpPr>
            <a:spLocks noGrp="1"/>
          </p:cNvSpPr>
          <p:nvPr/>
        </p:nvSpPr>
        <p:spPr>
          <a:xfrm>
            <a:off x="1257300" y="4581525"/>
            <a:ext cx="447675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75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Explain every outcome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1EE15A7-7A2D-4485-8D23-0B8387A3F1E8}"/>
              </a:ext>
            </a:extLst>
          </p:cNvPr>
          <p:cNvSpPr>
            <a:spLocks noGrp="1"/>
          </p:cNvSpPr>
          <p:nvPr/>
        </p:nvSpPr>
        <p:spPr>
          <a:xfrm>
            <a:off x="1257300" y="4981575"/>
            <a:ext cx="4476750" cy="6953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C6D8E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6D8E5"/>
                </a:solidFill>
                <a:latin typeface="Arial"/>
                <a:ea typeface="Arial"/>
                <a:cs typeface="Arial"/>
              </a:rPr>
              <a:t>Show bug counts, phase conclusions, diffs, retries, artifacts, and coverage failures.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008260-2537-4917-A5CB-12FA280FB80A}"/>
              </a:ext>
            </a:extLst>
          </p:cNvPr>
          <p:cNvSpPr>
            <a:spLocks noGrp="1"/>
          </p:cNvSpPr>
          <p:nvPr/>
        </p:nvSpPr>
        <p:spPr>
          <a:xfrm>
            <a:off x="6143625" y="4619625"/>
            <a:ext cx="428625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1">
                <a:solidFill>
                  <a:srgbClr val="FFAA3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AA3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C0A90C7-1A7A-4A28-B596-D1969DF12434}"/>
              </a:ext>
            </a:extLst>
          </p:cNvPr>
          <p:cNvSpPr>
            <a:spLocks noGrp="1"/>
          </p:cNvSpPr>
          <p:nvPr/>
        </p:nvSpPr>
        <p:spPr>
          <a:xfrm>
            <a:off x="6734175" y="4581525"/>
            <a:ext cx="447675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75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Benchmark reproducibly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F840924-B909-4D49-A666-1805DC0CEDB2}"/>
              </a:ext>
            </a:extLst>
          </p:cNvPr>
          <p:cNvSpPr>
            <a:spLocks noGrp="1"/>
          </p:cNvSpPr>
          <p:nvPr/>
        </p:nvSpPr>
        <p:spPr>
          <a:xfrm>
            <a:off x="6734175" y="4981575"/>
            <a:ext cx="4476750" cy="6953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C6D8E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6D8E5"/>
                </a:solidFill>
                <a:latin typeface="Arial"/>
                <a:ea typeface="Arial"/>
                <a:cs typeface="Arial"/>
              </a:rPr>
              <a:t>Run declared profiles with consistent case labels, timeouts, and result denominators.</a:t>
            </a:r>
          </a:p>
        </p:txBody>
      </p:sp>
    </p:spTree>
    <p:extLst>
      <p:ext uri="{BB962C8B-B14F-4D97-AF65-F5344CB8AC3E}">
        <p14:creationId xmlns:p14="http://schemas.microsoft.com/office/powerpoint/2010/main" val="939005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A2E432E6-ABCF-479C-B1BD-638861F60D4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37D5D2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695E57-6843-40EB-B306-AF77FA03A891}"/>
              </a:ext>
            </a:extLst>
          </p:cNvPr>
          <p:cNvSpPr>
            <a:spLocks noGrp="1"/>
          </p:cNvSpPr>
          <p:nvPr/>
        </p:nvSpPr>
        <p:spPr>
          <a:xfrm>
            <a:off x="647700" y="304800"/>
            <a:ext cx="20955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75" b="1">
                <a:solidFill>
                  <a:srgbClr val="37D5D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7D5D2"/>
                </a:solidFill>
                <a:latin typeface="Arial"/>
                <a:ea typeface="Arial"/>
                <a:cs typeface="Arial"/>
              </a:rPr>
              <a:t>EXISTING SYSTEM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D888A1-831A-44B8-8387-D549E42D6E58}"/>
              </a:ext>
            </a:extLst>
          </p:cNvPr>
          <p:cNvSpPr>
            <a:spLocks noGrp="1"/>
          </p:cNvSpPr>
          <p:nvPr/>
        </p:nvSpPr>
        <p:spPr>
          <a:xfrm>
            <a:off x="647700" y="590550"/>
            <a:ext cx="10572750" cy="5334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550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Existing approaches and the remaining gap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1E1221-48BC-4A8B-B4FC-0A7523DCC3A1}"/>
              </a:ext>
            </a:extLst>
          </p:cNvPr>
          <p:cNvSpPr>
            <a:spLocks noGrp="1"/>
          </p:cNvSpPr>
          <p:nvPr/>
        </p:nvSpPr>
        <p:spPr>
          <a:xfrm>
            <a:off x="647700" y="1190625"/>
            <a:ext cx="10877550" cy="19050"/>
          </a:xfrm>
          <a:prstGeom prst="rect">
            <a:avLst/>
          </a:prstGeom>
          <a:solidFill>
            <a:srgbClr val="2A4A61"/>
          </a:solidFill>
          <a:ln w="0">
            <a:noFill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CCDB20-FCA6-4FB0-9377-285099C3791A}"/>
              </a:ext>
            </a:extLst>
          </p:cNvPr>
          <p:cNvSpPr>
            <a:spLocks noGrp="1"/>
          </p:cNvSpPr>
          <p:nvPr/>
        </p:nvSpPr>
        <p:spPr>
          <a:xfrm>
            <a:off x="11144250" y="323850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1">
                <a:solidFill>
                  <a:srgbClr val="91A9B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1A9B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DFB0B7-0668-49E3-A5C0-39C9CDD8DB22}"/>
              </a:ext>
            </a:extLst>
          </p:cNvPr>
          <p:cNvSpPr>
            <a:spLocks noGrp="1"/>
          </p:cNvSpPr>
          <p:nvPr/>
        </p:nvSpPr>
        <p:spPr>
          <a:xfrm>
            <a:off x="685800" y="1438275"/>
            <a:ext cx="20002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1">
                <a:solidFill>
                  <a:srgbClr val="37D5D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7D5D2"/>
                </a:solidFill>
                <a:latin typeface="Arial"/>
                <a:ea typeface="Arial"/>
                <a:cs typeface="Arial"/>
              </a:rPr>
              <a:t>APPROACH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B8F01B-B7AF-418D-8657-5619D2C6668C}"/>
              </a:ext>
            </a:extLst>
          </p:cNvPr>
          <p:cNvSpPr>
            <a:spLocks noGrp="1"/>
          </p:cNvSpPr>
          <p:nvPr/>
        </p:nvSpPr>
        <p:spPr>
          <a:xfrm>
            <a:off x="3190875" y="1438275"/>
            <a:ext cx="266700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1">
                <a:solidFill>
                  <a:srgbClr val="37D5D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7D5D2"/>
                </a:solidFill>
                <a:latin typeface="Arial"/>
                <a:ea typeface="Arial"/>
                <a:cs typeface="Arial"/>
              </a:rPr>
              <a:t>WHAT IT PROVIDES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14CCD9-FB2D-4221-B389-9B2587261A0E}"/>
              </a:ext>
            </a:extLst>
          </p:cNvPr>
          <p:cNvSpPr>
            <a:spLocks noGrp="1"/>
          </p:cNvSpPr>
          <p:nvPr/>
        </p:nvSpPr>
        <p:spPr>
          <a:xfrm>
            <a:off x="6381750" y="1438275"/>
            <a:ext cx="457200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1">
                <a:solidFill>
                  <a:srgbClr val="FFAA3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AA3B"/>
                </a:solidFill>
                <a:latin typeface="Arial"/>
                <a:ea typeface="Arial"/>
                <a:cs typeface="Arial"/>
              </a:rPr>
              <a:t>LIMITATION FOR OUR USE CASE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9F7F87-3B46-4BC2-9EF8-BE78D852216B}"/>
              </a:ext>
            </a:extLst>
          </p:cNvPr>
          <p:cNvSpPr>
            <a:spLocks noGrp="1"/>
          </p:cNvSpPr>
          <p:nvPr/>
        </p:nvSpPr>
        <p:spPr>
          <a:xfrm>
            <a:off x="666750" y="1800225"/>
            <a:ext cx="10572750" cy="9525"/>
          </a:xfrm>
          <a:prstGeom prst="rect">
            <a:avLst/>
          </a:prstGeom>
          <a:solidFill>
            <a:srgbClr val="2A4A61"/>
          </a:solidFill>
          <a:ln w="0">
            <a:noFill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E95A81-6259-4100-A7D6-1DD77095164C}"/>
              </a:ext>
            </a:extLst>
          </p:cNvPr>
          <p:cNvSpPr>
            <a:spLocks noGrp="1"/>
          </p:cNvSpPr>
          <p:nvPr/>
        </p:nvSpPr>
        <p:spPr>
          <a:xfrm>
            <a:off x="685800" y="1847850"/>
            <a:ext cx="2333625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Slither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B6502C-2073-4805-9B97-03E7484849EB}"/>
              </a:ext>
            </a:extLst>
          </p:cNvPr>
          <p:cNvSpPr>
            <a:spLocks noGrp="1"/>
          </p:cNvSpPr>
          <p:nvPr/>
        </p:nvSpPr>
        <p:spPr>
          <a:xfrm>
            <a:off x="3190875" y="1847850"/>
            <a:ext cx="295275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C6D8E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6D8E5"/>
                </a:solidFill>
                <a:latin typeface="Arial"/>
                <a:ea typeface="Arial"/>
                <a:cs typeface="Arial"/>
              </a:rPr>
              <a:t>Fast source-level static analysis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0F20165-974B-48FB-A666-94F97D644DA0}"/>
              </a:ext>
            </a:extLst>
          </p:cNvPr>
          <p:cNvSpPr>
            <a:spLocks noGrp="1"/>
          </p:cNvSpPr>
          <p:nvPr/>
        </p:nvSpPr>
        <p:spPr>
          <a:xfrm>
            <a:off x="6381750" y="1847850"/>
            <a:ext cx="4762500" cy="590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C6D8E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6D8E5"/>
                </a:solidFill>
                <a:latin typeface="Arial"/>
                <a:ea typeface="Arial"/>
                <a:cs typeface="Arial"/>
              </a:rPr>
              <a:t>Produces candidate warnings rather than project-specific exploit proof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2C7DCB8-509D-4608-8048-DAE41187DD49}"/>
              </a:ext>
            </a:extLst>
          </p:cNvPr>
          <p:cNvSpPr>
            <a:spLocks noGrp="1"/>
          </p:cNvSpPr>
          <p:nvPr/>
        </p:nvSpPr>
        <p:spPr>
          <a:xfrm>
            <a:off x="666750" y="2733675"/>
            <a:ext cx="10572750" cy="9525"/>
          </a:xfrm>
          <a:prstGeom prst="rect">
            <a:avLst/>
          </a:prstGeom>
          <a:solidFill>
            <a:srgbClr val="2A4A61"/>
          </a:solidFill>
          <a:ln w="0">
            <a:noFill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33EFB0-6A57-45E4-97E1-FF0CE82414E7}"/>
              </a:ext>
            </a:extLst>
          </p:cNvPr>
          <p:cNvSpPr>
            <a:spLocks noGrp="1"/>
          </p:cNvSpPr>
          <p:nvPr/>
        </p:nvSpPr>
        <p:spPr>
          <a:xfrm>
            <a:off x="685800" y="2781300"/>
            <a:ext cx="2333625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Mythril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42AFD1-2E9A-4977-8761-BDD97EDF0410}"/>
              </a:ext>
            </a:extLst>
          </p:cNvPr>
          <p:cNvSpPr>
            <a:spLocks noGrp="1"/>
          </p:cNvSpPr>
          <p:nvPr/>
        </p:nvSpPr>
        <p:spPr>
          <a:xfrm>
            <a:off x="3190875" y="2781300"/>
            <a:ext cx="295275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C6D8E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6D8E5"/>
                </a:solidFill>
                <a:latin typeface="Arial"/>
                <a:ea typeface="Arial"/>
                <a:cs typeface="Arial"/>
              </a:rPr>
              <a:t>Symbolic exploration of contract behavior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C7C2FD-0716-4426-BB68-AA2EBA9816C7}"/>
              </a:ext>
            </a:extLst>
          </p:cNvPr>
          <p:cNvSpPr>
            <a:spLocks noGrp="1"/>
          </p:cNvSpPr>
          <p:nvPr/>
        </p:nvSpPr>
        <p:spPr>
          <a:xfrm>
            <a:off x="6381750" y="2781300"/>
            <a:ext cx="4762500" cy="590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C6D8E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6D8E5"/>
                </a:solidFill>
                <a:latin typeface="Arial"/>
                <a:ea typeface="Arial"/>
                <a:cs typeface="Arial"/>
              </a:rPr>
              <a:t>Can be slow and depends on compatible compiler and environment setup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329C93C-2AE6-4A87-9AA9-F4E098BA854C}"/>
              </a:ext>
            </a:extLst>
          </p:cNvPr>
          <p:cNvSpPr>
            <a:spLocks noGrp="1"/>
          </p:cNvSpPr>
          <p:nvPr/>
        </p:nvSpPr>
        <p:spPr>
          <a:xfrm>
            <a:off x="666750" y="3667125"/>
            <a:ext cx="10572750" cy="9525"/>
          </a:xfrm>
          <a:prstGeom prst="rect">
            <a:avLst/>
          </a:prstGeom>
          <a:solidFill>
            <a:srgbClr val="2A4A61"/>
          </a:solidFill>
          <a:ln w="0">
            <a:noFill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97F6EA9-08D6-4938-A48B-745F36965185}"/>
              </a:ext>
            </a:extLst>
          </p:cNvPr>
          <p:cNvSpPr>
            <a:spLocks noGrp="1"/>
          </p:cNvSpPr>
          <p:nvPr/>
        </p:nvSpPr>
        <p:spPr>
          <a:xfrm>
            <a:off x="685800" y="3714750"/>
            <a:ext cx="2333625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PoCo and ReX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E6BC67E-8DA8-4BA2-BE2C-869BDFE311B9}"/>
              </a:ext>
            </a:extLst>
          </p:cNvPr>
          <p:cNvSpPr>
            <a:spLocks noGrp="1"/>
          </p:cNvSpPr>
          <p:nvPr/>
        </p:nvSpPr>
        <p:spPr>
          <a:xfrm>
            <a:off x="3190875" y="3714750"/>
            <a:ext cx="295275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C6D8E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6D8E5"/>
                </a:solidFill>
                <a:latin typeface="Arial"/>
                <a:ea typeface="Arial"/>
                <a:cs typeface="Arial"/>
              </a:rPr>
              <a:t>Generate executable smart-contract exploits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A84FC70-B494-4C83-9BE9-BBB9AB4ABA3C}"/>
              </a:ext>
            </a:extLst>
          </p:cNvPr>
          <p:cNvSpPr>
            <a:spLocks noGrp="1"/>
          </p:cNvSpPr>
          <p:nvPr/>
        </p:nvSpPr>
        <p:spPr>
          <a:xfrm>
            <a:off x="6381750" y="3714750"/>
            <a:ext cx="4762500" cy="590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C6D8E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6D8E5"/>
                </a:solidFill>
                <a:latin typeface="Arial"/>
                <a:ea typeface="Arial"/>
                <a:cs typeface="Arial"/>
              </a:rPr>
              <a:t>Concentrate primarily on exploit generation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2ECF2F7-1EC4-4559-A89F-48280A457406}"/>
              </a:ext>
            </a:extLst>
          </p:cNvPr>
          <p:cNvSpPr>
            <a:spLocks noGrp="1"/>
          </p:cNvSpPr>
          <p:nvPr/>
        </p:nvSpPr>
        <p:spPr>
          <a:xfrm>
            <a:off x="666750" y="4600575"/>
            <a:ext cx="10572750" cy="9525"/>
          </a:xfrm>
          <a:prstGeom prst="rect">
            <a:avLst/>
          </a:prstGeom>
          <a:solidFill>
            <a:srgbClr val="2A4A61"/>
          </a:solidFill>
          <a:ln w="0">
            <a:noFill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FE7DDA3-7058-4402-B582-3DDC369639CC}"/>
              </a:ext>
            </a:extLst>
          </p:cNvPr>
          <p:cNvSpPr>
            <a:spLocks noGrp="1"/>
          </p:cNvSpPr>
          <p:nvPr/>
        </p:nvSpPr>
        <p:spPr>
          <a:xfrm>
            <a:off x="685800" y="4648200"/>
            <a:ext cx="2333625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SmartFix and LLM repair systems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F6A6CC6-6423-41B5-AFE2-D8742ACFD9B7}"/>
              </a:ext>
            </a:extLst>
          </p:cNvPr>
          <p:cNvSpPr>
            <a:spLocks noGrp="1"/>
          </p:cNvSpPr>
          <p:nvPr/>
        </p:nvSpPr>
        <p:spPr>
          <a:xfrm>
            <a:off x="3190875" y="4648200"/>
            <a:ext cx="295275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C6D8E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6D8E5"/>
                </a:solidFill>
                <a:latin typeface="Arial"/>
                <a:ea typeface="Arial"/>
                <a:cs typeface="Arial"/>
              </a:rPr>
              <a:t>Generate or rank candidate patches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324F91E-2470-4FA5-8C40-A569EBF55B98}"/>
              </a:ext>
            </a:extLst>
          </p:cNvPr>
          <p:cNvSpPr>
            <a:spLocks noGrp="1"/>
          </p:cNvSpPr>
          <p:nvPr/>
        </p:nvSpPr>
        <p:spPr>
          <a:xfrm>
            <a:off x="6381750" y="4648200"/>
            <a:ext cx="4762500" cy="590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C6D8E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6D8E5"/>
                </a:solidFill>
                <a:latin typeface="Arial"/>
                <a:ea typeface="Arial"/>
                <a:cs typeface="Arial"/>
              </a:rPr>
              <a:t>Use different datasets and validation criteria; outputs still need project checks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22751FD-E0BE-4738-BFDA-E3752DD03507}"/>
              </a:ext>
            </a:extLst>
          </p:cNvPr>
          <p:cNvSpPr>
            <a:spLocks noGrp="1"/>
          </p:cNvSpPr>
          <p:nvPr/>
        </p:nvSpPr>
        <p:spPr>
          <a:xfrm>
            <a:off x="685800" y="5772150"/>
            <a:ext cx="1047750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725" b="1">
                <a:solidFill>
                  <a:srgbClr val="37D5D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7D5D2"/>
                </a:solidFill>
                <a:latin typeface="Arial"/>
                <a:ea typeface="Arial"/>
                <a:cs typeface="Arial"/>
              </a:rPr>
              <a:t>Sentinel’s contribution is the connected evidence flow across detection, confirmation, repair, and validation.</a:t>
            </a:r>
          </a:p>
        </p:txBody>
      </p:sp>
    </p:spTree>
    <p:extLst>
      <p:ext uri="{BB962C8B-B14F-4D97-AF65-F5344CB8AC3E}">
        <p14:creationId xmlns:p14="http://schemas.microsoft.com/office/powerpoint/2010/main" val="1554356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AC13224C-1A60-4B62-B1AF-4E13261D0B1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37D5D2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F79973-2A8B-4546-AF18-D4A2E0680BE4}"/>
              </a:ext>
            </a:extLst>
          </p:cNvPr>
          <p:cNvSpPr>
            <a:spLocks noGrp="1"/>
          </p:cNvSpPr>
          <p:nvPr/>
        </p:nvSpPr>
        <p:spPr>
          <a:xfrm>
            <a:off x="647700" y="304800"/>
            <a:ext cx="20955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75" b="1">
                <a:solidFill>
                  <a:srgbClr val="37D5D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7D5D2"/>
                </a:solidFill>
                <a:latin typeface="Arial"/>
                <a:ea typeface="Arial"/>
                <a:cs typeface="Arial"/>
              </a:rPr>
              <a:t>PROPOSED SYSTEM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ED10ED-2150-4190-9A80-6166C9FF8B1C}"/>
              </a:ext>
            </a:extLst>
          </p:cNvPr>
          <p:cNvSpPr>
            <a:spLocks noGrp="1"/>
          </p:cNvSpPr>
          <p:nvPr/>
        </p:nvSpPr>
        <p:spPr>
          <a:xfrm>
            <a:off x="647700" y="590550"/>
            <a:ext cx="10572750" cy="5334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550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Sentinel’s proposed solution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09ADF2-B13E-4FCD-8C38-261E072365FF}"/>
              </a:ext>
            </a:extLst>
          </p:cNvPr>
          <p:cNvSpPr>
            <a:spLocks noGrp="1"/>
          </p:cNvSpPr>
          <p:nvPr/>
        </p:nvSpPr>
        <p:spPr>
          <a:xfrm>
            <a:off x="647700" y="1190625"/>
            <a:ext cx="10877550" cy="19050"/>
          </a:xfrm>
          <a:prstGeom prst="rect">
            <a:avLst/>
          </a:prstGeom>
          <a:solidFill>
            <a:srgbClr val="2A4A61"/>
          </a:solidFill>
          <a:ln w="0">
            <a:noFill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C713D9-6675-4692-9CAF-B702E95D542F}"/>
              </a:ext>
            </a:extLst>
          </p:cNvPr>
          <p:cNvSpPr>
            <a:spLocks noGrp="1"/>
          </p:cNvSpPr>
          <p:nvPr/>
        </p:nvSpPr>
        <p:spPr>
          <a:xfrm>
            <a:off x="11144250" y="323850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1">
                <a:solidFill>
                  <a:srgbClr val="91A9B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1A9B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165462-4B1E-4BB4-AA32-4719E27C7606}"/>
              </a:ext>
            </a:extLst>
          </p:cNvPr>
          <p:cNvSpPr>
            <a:spLocks noGrp="1"/>
          </p:cNvSpPr>
          <p:nvPr/>
        </p:nvSpPr>
        <p:spPr>
          <a:xfrm>
            <a:off x="704850" y="1476375"/>
            <a:ext cx="11430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1">
                <a:solidFill>
                  <a:srgbClr val="37D5D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7D5D2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F8CE9E-F4ED-469B-8094-B220F773D083}"/>
              </a:ext>
            </a:extLst>
          </p:cNvPr>
          <p:cNvSpPr>
            <a:spLocks noGrp="1"/>
          </p:cNvSpPr>
          <p:nvPr/>
        </p:nvSpPr>
        <p:spPr>
          <a:xfrm>
            <a:off x="1952625" y="1428750"/>
            <a:ext cx="847725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725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A local Foundry project containing Solidity source, configuration, and tests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8424EF-70DD-41A9-A27F-6B0366E1D4FC}"/>
              </a:ext>
            </a:extLst>
          </p:cNvPr>
          <p:cNvSpPr>
            <a:spLocks noGrp="1"/>
          </p:cNvSpPr>
          <p:nvPr/>
        </p:nvSpPr>
        <p:spPr>
          <a:xfrm>
            <a:off x="704850" y="1952625"/>
            <a:ext cx="10477500" cy="19050"/>
          </a:xfrm>
          <a:prstGeom prst="rect">
            <a:avLst/>
          </a:prstGeom>
          <a:solidFill>
            <a:srgbClr val="2A4A61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873E262-7A97-42C8-8ACE-BDAD1CAA28C2}"/>
              </a:ext>
            </a:extLst>
          </p:cNvPr>
          <p:cNvSpPr>
            <a:spLocks noGrp="1"/>
          </p:cNvSpPr>
          <p:nvPr/>
        </p:nvSpPr>
        <p:spPr>
          <a:xfrm>
            <a:off x="714375" y="2266950"/>
            <a:ext cx="1666875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75" b="1">
                <a:solidFill>
                  <a:srgbClr val="37D5D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7D5D2"/>
                </a:solidFill>
                <a:latin typeface="Arial"/>
                <a:ea typeface="Arial"/>
                <a:cs typeface="Arial"/>
              </a:rPr>
              <a:t>Scout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67B090-AFFE-44ED-B628-F7A5DE125E3D}"/>
              </a:ext>
            </a:extLst>
          </p:cNvPr>
          <p:cNvSpPr>
            <a:spLocks noGrp="1"/>
          </p:cNvSpPr>
          <p:nvPr/>
        </p:nvSpPr>
        <p:spPr>
          <a:xfrm>
            <a:off x="2476500" y="2266950"/>
            <a:ext cx="857250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C6D8E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6D8E5"/>
                </a:solidFill>
                <a:latin typeface="Arial"/>
                <a:ea typeface="Arial"/>
                <a:cs typeface="Arial"/>
              </a:rPr>
              <a:t>Runs Slither and Mythril, records failures, normalizes findings, and deterministically ranks one candidate.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AF51C4-0CBA-40DD-991C-D482611750B6}"/>
              </a:ext>
            </a:extLst>
          </p:cNvPr>
          <p:cNvSpPr>
            <a:spLocks noGrp="1"/>
          </p:cNvSpPr>
          <p:nvPr/>
        </p:nvSpPr>
        <p:spPr>
          <a:xfrm>
            <a:off x="714375" y="3086100"/>
            <a:ext cx="1666875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75" b="1">
                <a:solidFill>
                  <a:srgbClr val="37D5D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7D5D2"/>
                </a:solidFill>
                <a:latin typeface="Arial"/>
                <a:ea typeface="Arial"/>
                <a:cs typeface="Arial"/>
              </a:rPr>
              <a:t>Red Team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7DA0AA3-8698-4C9A-9B89-DDC09801BB65}"/>
              </a:ext>
            </a:extLst>
          </p:cNvPr>
          <p:cNvSpPr>
            <a:spLocks noGrp="1"/>
          </p:cNvSpPr>
          <p:nvPr/>
        </p:nvSpPr>
        <p:spPr>
          <a:xfrm>
            <a:off x="2476500" y="3086100"/>
            <a:ext cx="857250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C6D8E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6D8E5"/>
                </a:solidFill>
                <a:latin typeface="Arial"/>
                <a:ea typeface="Arial"/>
                <a:cs typeface="Arial"/>
              </a:rPr>
              <a:t>Creates testExploit, sets up attacker state, executes the attack with Forge, and requires an observable impact.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D5EC8D-2E92-4163-BBEE-AF3F3C48546C}"/>
              </a:ext>
            </a:extLst>
          </p:cNvPr>
          <p:cNvSpPr>
            <a:spLocks noGrp="1"/>
          </p:cNvSpPr>
          <p:nvPr/>
        </p:nvSpPr>
        <p:spPr>
          <a:xfrm>
            <a:off x="714375" y="3905250"/>
            <a:ext cx="1666875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75" b="1">
                <a:solidFill>
                  <a:srgbClr val="37D5D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7D5D2"/>
                </a:solidFill>
                <a:latin typeface="Arial"/>
                <a:ea typeface="Arial"/>
                <a:cs typeface="Arial"/>
              </a:rPr>
              <a:t>Blue Team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3720056-784F-4948-8FBD-4F253459529C}"/>
              </a:ext>
            </a:extLst>
          </p:cNvPr>
          <p:cNvSpPr>
            <a:spLocks noGrp="1"/>
          </p:cNvSpPr>
          <p:nvPr/>
        </p:nvSpPr>
        <p:spPr>
          <a:xfrm>
            <a:off x="2476500" y="3905250"/>
            <a:ext cx="857250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C6D8E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6D8E5"/>
                </a:solidFill>
                <a:latin typeface="Arial"/>
                <a:ea typeface="Arial"/>
                <a:cs typeface="Arial"/>
              </a:rPr>
              <a:t>Applies a reviewed vulnerability template or a guarded unified diff only after exploit confirmation.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A97D3C9-13A6-4FFB-B732-36AEDDA9CB31}"/>
              </a:ext>
            </a:extLst>
          </p:cNvPr>
          <p:cNvSpPr>
            <a:spLocks noGrp="1"/>
          </p:cNvSpPr>
          <p:nvPr/>
        </p:nvSpPr>
        <p:spPr>
          <a:xfrm>
            <a:off x="714375" y="4724400"/>
            <a:ext cx="1666875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75" b="1">
                <a:solidFill>
                  <a:srgbClr val="FFAA3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AA3B"/>
                </a:solidFill>
                <a:latin typeface="Arial"/>
                <a:ea typeface="Arial"/>
                <a:cs typeface="Arial"/>
              </a:rPr>
              <a:t>Validator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A4BCF49-278F-4181-A77E-E0B794B11BA4}"/>
              </a:ext>
            </a:extLst>
          </p:cNvPr>
          <p:cNvSpPr>
            <a:spLocks noGrp="1"/>
          </p:cNvSpPr>
          <p:nvPr/>
        </p:nvSpPr>
        <p:spPr>
          <a:xfrm>
            <a:off x="2476500" y="4724400"/>
            <a:ext cx="857250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C6D8E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6D8E5"/>
                </a:solidFill>
                <a:latin typeface="Arial"/>
                <a:ea typeface="Arial"/>
                <a:cs typeface="Arial"/>
              </a:rPr>
              <a:t>Builds the patched copy, replays the exploit, runs regressions, and returns evidence for a bounded retry.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ED1FF9F-ACC9-4AD7-AC6B-989C603CF9D0}"/>
              </a:ext>
            </a:extLst>
          </p:cNvPr>
          <p:cNvSpPr>
            <a:spLocks noGrp="1"/>
          </p:cNvSpPr>
          <p:nvPr/>
        </p:nvSpPr>
        <p:spPr>
          <a:xfrm>
            <a:off x="704850" y="5657850"/>
            <a:ext cx="10477500" cy="19050"/>
          </a:xfrm>
          <a:prstGeom prst="rect">
            <a:avLst/>
          </a:prstGeom>
          <a:solidFill>
            <a:srgbClr val="2A4A61"/>
          </a:solidFill>
          <a:ln w="0">
            <a:noFill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AF063DF-E599-4C20-BC0A-C0BF5982C538}"/>
              </a:ext>
            </a:extLst>
          </p:cNvPr>
          <p:cNvSpPr>
            <a:spLocks noGrp="1"/>
          </p:cNvSpPr>
          <p:nvPr/>
        </p:nvSpPr>
        <p:spPr>
          <a:xfrm>
            <a:off x="704850" y="5857875"/>
            <a:ext cx="11430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1">
                <a:solidFill>
                  <a:srgbClr val="FFAA3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AA3B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F2AA0F5-5261-4C3F-A326-73EC6BB4009A}"/>
              </a:ext>
            </a:extLst>
          </p:cNvPr>
          <p:cNvSpPr>
            <a:spLocks noGrp="1"/>
          </p:cNvSpPr>
          <p:nvPr/>
        </p:nvSpPr>
        <p:spPr>
          <a:xfrm>
            <a:off x="1952625" y="5762625"/>
            <a:ext cx="8763000" cy="4191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75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Markdown report, JSON ledger, PoC test, patched Solidity, unified diff, and final status</a:t>
            </a:r>
          </a:p>
        </p:txBody>
      </p:sp>
    </p:spTree>
    <p:extLst>
      <p:ext uri="{BB962C8B-B14F-4D97-AF65-F5344CB8AC3E}">
        <p14:creationId xmlns:p14="http://schemas.microsoft.com/office/powerpoint/2010/main" val="1489797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37579F04-A8C0-48BE-BA82-0E634F4F527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37D5D2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27CACCC-ED70-45BF-883E-25BE44EBCA2F}"/>
              </a:ext>
            </a:extLst>
          </p:cNvPr>
          <p:cNvSpPr>
            <a:spLocks noGrp="1"/>
          </p:cNvSpPr>
          <p:nvPr/>
        </p:nvSpPr>
        <p:spPr>
          <a:xfrm>
            <a:off x="647700" y="304800"/>
            <a:ext cx="20955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75" b="1">
                <a:solidFill>
                  <a:srgbClr val="37D5D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7D5D2"/>
                </a:solidFill>
                <a:latin typeface="Arial"/>
                <a:ea typeface="Arial"/>
                <a:cs typeface="Arial"/>
              </a:rPr>
              <a:t>DESIGN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0BD826-4D1F-49AF-9A3F-EEE2228EBF8C}"/>
              </a:ext>
            </a:extLst>
          </p:cNvPr>
          <p:cNvSpPr>
            <a:spLocks noGrp="1"/>
          </p:cNvSpPr>
          <p:nvPr/>
        </p:nvSpPr>
        <p:spPr>
          <a:xfrm>
            <a:off x="647700" y="590550"/>
            <a:ext cx="10572750" cy="5334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550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B6CB2A-7DF7-4BF8-AC4F-E2B11142A69C}"/>
              </a:ext>
            </a:extLst>
          </p:cNvPr>
          <p:cNvSpPr>
            <a:spLocks noGrp="1"/>
          </p:cNvSpPr>
          <p:nvPr/>
        </p:nvSpPr>
        <p:spPr>
          <a:xfrm>
            <a:off x="647700" y="1190625"/>
            <a:ext cx="10877550" cy="19050"/>
          </a:xfrm>
          <a:prstGeom prst="rect">
            <a:avLst/>
          </a:prstGeom>
          <a:solidFill>
            <a:srgbClr val="2A4A61"/>
          </a:solidFill>
          <a:ln w="0">
            <a:noFill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85E7F7-00AC-4202-961D-DD80B4657B89}"/>
              </a:ext>
            </a:extLst>
          </p:cNvPr>
          <p:cNvSpPr>
            <a:spLocks noGrp="1"/>
          </p:cNvSpPr>
          <p:nvPr/>
        </p:nvSpPr>
        <p:spPr>
          <a:xfrm>
            <a:off x="11144250" y="323850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1">
                <a:solidFill>
                  <a:srgbClr val="91A9B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1A9B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D7786D8-D976-47E1-9C9F-9D851E8540C7}"/>
              </a:ext>
            </a:extLst>
          </p:cNvPr>
          <p:cNvSpPr>
            <a:spLocks noGrp="1"/>
          </p:cNvSpPr>
          <p:nvPr/>
        </p:nvSpPr>
        <p:spPr>
          <a:xfrm>
            <a:off x="381000" y="1571625"/>
            <a:ext cx="1666875" cy="1428750"/>
          </a:xfrm>
          <a:prstGeom prst="roundRect">
            <a:avLst>
              <a:gd name="adj" fmla="val 5333"/>
            </a:avLst>
          </a:prstGeom>
          <a:solidFill>
            <a:srgbClr val="0E2A40"/>
          </a:solidFill>
          <a:ln w="9525">
            <a:solidFill>
              <a:srgbClr val="2A4A61"/>
            </a:solidFill>
          </a:ln>
        </p:spPr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CDE6DDB-307D-4DB3-9E3A-916706BB7A0E}"/>
              </a:ext>
            </a:extLst>
          </p:cNvPr>
          <p:cNvSpPr>
            <a:spLocks noGrp="1"/>
          </p:cNvSpPr>
          <p:nvPr/>
        </p:nvSpPr>
        <p:spPr>
          <a:xfrm>
            <a:off x="533400" y="1704975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37D5D2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7E0A70-E11F-40FE-95C9-446EF5A29A9F}"/>
              </a:ext>
            </a:extLst>
          </p:cNvPr>
          <p:cNvSpPr>
            <a:spLocks noGrp="1"/>
          </p:cNvSpPr>
          <p:nvPr/>
        </p:nvSpPr>
        <p:spPr>
          <a:xfrm>
            <a:off x="533400" y="1704975"/>
            <a:ext cx="4000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07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E0D3651-7DE1-4E63-8EA6-75D6B5470AF8}"/>
              </a:ext>
            </a:extLst>
          </p:cNvPr>
          <p:cNvSpPr>
            <a:spLocks noGrp="1"/>
          </p:cNvSpPr>
          <p:nvPr/>
        </p:nvSpPr>
        <p:spPr>
          <a:xfrm>
            <a:off x="552450" y="2181225"/>
            <a:ext cx="1323975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F4C1C2-5193-4AAD-942A-99DACF3399A2}"/>
              </a:ext>
            </a:extLst>
          </p:cNvPr>
          <p:cNvSpPr>
            <a:spLocks noGrp="1"/>
          </p:cNvSpPr>
          <p:nvPr/>
        </p:nvSpPr>
        <p:spPr>
          <a:xfrm>
            <a:off x="523875" y="2533650"/>
            <a:ext cx="1381125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0">
                <a:solidFill>
                  <a:srgbClr val="C6D8E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6D8E5"/>
                </a:solidFill>
                <a:latin typeface="Arial"/>
                <a:ea typeface="Arial"/>
                <a:cs typeface="Arial"/>
              </a:rPr>
              <a:t>Validate project</a:t>
            </a:r>
          </a:p>
          <a:p>
            <a:pPr>
              <a:defRPr sz="1050" b="0">
                <a:solidFill>
                  <a:srgbClr val="C6D8E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6D8E5"/>
                </a:solidFill>
                <a:latin typeface="Arial"/>
                <a:ea typeface="Arial"/>
                <a:cs typeface="Arial"/>
              </a:rPr>
              <a:t>Create copy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06B5A3-56E8-4B72-AAD5-4D01B12D756F}"/>
              </a:ext>
            </a:extLst>
          </p:cNvPr>
          <p:cNvSpPr>
            <a:spLocks noGrp="1"/>
          </p:cNvSpPr>
          <p:nvPr/>
        </p:nvSpPr>
        <p:spPr>
          <a:xfrm>
            <a:off x="2047875" y="2257425"/>
            <a:ext cx="285750" cy="38100"/>
          </a:xfrm>
          <a:prstGeom prst="rect">
            <a:avLst/>
          </a:prstGeom>
          <a:solidFill>
            <a:srgbClr val="37D5D2"/>
          </a:solidFill>
          <a:ln w="0">
            <a:noFill/>
          </a:ln>
        </p:spPr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7BD1738-D9B5-4A81-8909-685772577BE0}"/>
              </a:ext>
            </a:extLst>
          </p:cNvPr>
          <p:cNvSpPr>
            <a:spLocks noGrp="1"/>
          </p:cNvSpPr>
          <p:nvPr/>
        </p:nvSpPr>
        <p:spPr>
          <a:xfrm>
            <a:off x="2333625" y="1571625"/>
            <a:ext cx="1666875" cy="1428750"/>
          </a:xfrm>
          <a:prstGeom prst="roundRect">
            <a:avLst>
              <a:gd name="adj" fmla="val 5333"/>
            </a:avLst>
          </a:prstGeom>
          <a:solidFill>
            <a:srgbClr val="0E2A40"/>
          </a:solidFill>
          <a:ln w="9525">
            <a:solidFill>
              <a:srgbClr val="2A4A61"/>
            </a:solidFill>
          </a:ln>
        </p:spPr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AB4760D-4BA2-4F50-8002-A473D3040CA7}"/>
              </a:ext>
            </a:extLst>
          </p:cNvPr>
          <p:cNvSpPr>
            <a:spLocks noGrp="1"/>
          </p:cNvSpPr>
          <p:nvPr/>
        </p:nvSpPr>
        <p:spPr>
          <a:xfrm>
            <a:off x="2486025" y="1704975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37D5D2"/>
          </a:solidFill>
          <a:ln w="0">
            <a:noFill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F47FC8-821C-44F9-B4A1-F33DBE731578}"/>
              </a:ext>
            </a:extLst>
          </p:cNvPr>
          <p:cNvSpPr>
            <a:spLocks noGrp="1"/>
          </p:cNvSpPr>
          <p:nvPr/>
        </p:nvSpPr>
        <p:spPr>
          <a:xfrm>
            <a:off x="2486025" y="1704975"/>
            <a:ext cx="4000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07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D9718A1-11B6-402E-B139-4D24F43B8E69}"/>
              </a:ext>
            </a:extLst>
          </p:cNvPr>
          <p:cNvSpPr>
            <a:spLocks noGrp="1"/>
          </p:cNvSpPr>
          <p:nvPr/>
        </p:nvSpPr>
        <p:spPr>
          <a:xfrm>
            <a:off x="2505075" y="2181225"/>
            <a:ext cx="1323975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Scout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C4B814-FB60-4934-8E7C-52C243AD9349}"/>
              </a:ext>
            </a:extLst>
          </p:cNvPr>
          <p:cNvSpPr>
            <a:spLocks noGrp="1"/>
          </p:cNvSpPr>
          <p:nvPr/>
        </p:nvSpPr>
        <p:spPr>
          <a:xfrm>
            <a:off x="2476500" y="2533650"/>
            <a:ext cx="1381125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0">
                <a:solidFill>
                  <a:srgbClr val="C6D8E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6D8E5"/>
                </a:solidFill>
                <a:latin typeface="Arial"/>
                <a:ea typeface="Arial"/>
                <a:cs typeface="Arial"/>
              </a:rPr>
              <a:t>Analyze and rank</a:t>
            </a:r>
          </a:p>
          <a:p>
            <a:pPr>
              <a:defRPr sz="1050" b="0">
                <a:solidFill>
                  <a:srgbClr val="C6D8E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6D8E5"/>
                </a:solidFill>
                <a:latin typeface="Arial"/>
                <a:ea typeface="Arial"/>
                <a:cs typeface="Arial"/>
              </a:rPr>
              <a:t>Store provenance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15A868F-C59A-428B-8F77-0B7A7371F3B6}"/>
              </a:ext>
            </a:extLst>
          </p:cNvPr>
          <p:cNvSpPr>
            <a:spLocks noGrp="1"/>
          </p:cNvSpPr>
          <p:nvPr/>
        </p:nvSpPr>
        <p:spPr>
          <a:xfrm>
            <a:off x="4000500" y="2257425"/>
            <a:ext cx="285750" cy="38100"/>
          </a:xfrm>
          <a:prstGeom prst="rect">
            <a:avLst/>
          </a:prstGeom>
          <a:solidFill>
            <a:srgbClr val="37D5D2"/>
          </a:solidFill>
          <a:ln w="0">
            <a:noFill/>
          </a:ln>
        </p:spPr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B7F7A3E-DE34-43A8-A181-436EED7CC246}"/>
              </a:ext>
            </a:extLst>
          </p:cNvPr>
          <p:cNvSpPr>
            <a:spLocks noGrp="1"/>
          </p:cNvSpPr>
          <p:nvPr/>
        </p:nvSpPr>
        <p:spPr>
          <a:xfrm>
            <a:off x="4286250" y="1571625"/>
            <a:ext cx="1666875" cy="1428750"/>
          </a:xfrm>
          <a:prstGeom prst="roundRect">
            <a:avLst>
              <a:gd name="adj" fmla="val 5333"/>
            </a:avLst>
          </a:prstGeom>
          <a:solidFill>
            <a:srgbClr val="0E2A40"/>
          </a:solidFill>
          <a:ln w="9525">
            <a:solidFill>
              <a:srgbClr val="2A4A61"/>
            </a:solidFill>
          </a:ln>
        </p:spPr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02E99C2-A201-40AF-B4C1-55ACA4F88074}"/>
              </a:ext>
            </a:extLst>
          </p:cNvPr>
          <p:cNvSpPr>
            <a:spLocks noGrp="1"/>
          </p:cNvSpPr>
          <p:nvPr/>
        </p:nvSpPr>
        <p:spPr>
          <a:xfrm>
            <a:off x="4438650" y="1704975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37D5D2"/>
          </a:solidFill>
          <a:ln w="0">
            <a:noFill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7431778-890D-4D30-8485-DD2D289CF1F5}"/>
              </a:ext>
            </a:extLst>
          </p:cNvPr>
          <p:cNvSpPr>
            <a:spLocks noGrp="1"/>
          </p:cNvSpPr>
          <p:nvPr/>
        </p:nvSpPr>
        <p:spPr>
          <a:xfrm>
            <a:off x="4438650" y="1704975"/>
            <a:ext cx="4000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07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1F60DE-5B63-4F78-92D4-876C6D8B7AD7}"/>
              </a:ext>
            </a:extLst>
          </p:cNvPr>
          <p:cNvSpPr>
            <a:spLocks noGrp="1"/>
          </p:cNvSpPr>
          <p:nvPr/>
        </p:nvSpPr>
        <p:spPr>
          <a:xfrm>
            <a:off x="4457700" y="2181225"/>
            <a:ext cx="1323975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Red Team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8E086F2-1977-4A28-8005-7851DC3C5C00}"/>
              </a:ext>
            </a:extLst>
          </p:cNvPr>
          <p:cNvSpPr>
            <a:spLocks noGrp="1"/>
          </p:cNvSpPr>
          <p:nvPr/>
        </p:nvSpPr>
        <p:spPr>
          <a:xfrm>
            <a:off x="4429125" y="2533650"/>
            <a:ext cx="1381125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0">
                <a:solidFill>
                  <a:srgbClr val="C6D8E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6D8E5"/>
                </a:solidFill>
                <a:latin typeface="Arial"/>
                <a:ea typeface="Arial"/>
                <a:cs typeface="Arial"/>
              </a:rPr>
              <a:t>Generate PoC</a:t>
            </a:r>
          </a:p>
          <a:p>
            <a:pPr>
              <a:defRPr sz="1050" b="0">
                <a:solidFill>
                  <a:srgbClr val="C6D8E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6D8E5"/>
                </a:solidFill>
                <a:latin typeface="Arial"/>
                <a:ea typeface="Arial"/>
                <a:cs typeface="Arial"/>
              </a:rPr>
              <a:t>Execute Forge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EFCE9D8-8C01-40F4-BDC7-06F206D60BC4}"/>
              </a:ext>
            </a:extLst>
          </p:cNvPr>
          <p:cNvSpPr>
            <a:spLocks noGrp="1"/>
          </p:cNvSpPr>
          <p:nvPr/>
        </p:nvSpPr>
        <p:spPr>
          <a:xfrm>
            <a:off x="5953125" y="2257425"/>
            <a:ext cx="285750" cy="38100"/>
          </a:xfrm>
          <a:prstGeom prst="rect">
            <a:avLst/>
          </a:prstGeom>
          <a:solidFill>
            <a:srgbClr val="37D5D2"/>
          </a:solidFill>
          <a:ln w="0">
            <a:noFill/>
          </a:ln>
        </p:spPr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EE327C7-3E9C-452E-966C-E80FB04035BE}"/>
              </a:ext>
            </a:extLst>
          </p:cNvPr>
          <p:cNvSpPr>
            <a:spLocks noGrp="1"/>
          </p:cNvSpPr>
          <p:nvPr/>
        </p:nvSpPr>
        <p:spPr>
          <a:xfrm>
            <a:off x="6238875" y="1571625"/>
            <a:ext cx="1666875" cy="1428750"/>
          </a:xfrm>
          <a:prstGeom prst="roundRect">
            <a:avLst>
              <a:gd name="adj" fmla="val 5333"/>
            </a:avLst>
          </a:prstGeom>
          <a:solidFill>
            <a:srgbClr val="0E2A40"/>
          </a:solidFill>
          <a:ln w="9525">
            <a:solidFill>
              <a:srgbClr val="2A4A61"/>
            </a:solidFill>
          </a:ln>
        </p:spPr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8E06D62-DE28-4353-86D3-7970B9AE9984}"/>
              </a:ext>
            </a:extLst>
          </p:cNvPr>
          <p:cNvSpPr>
            <a:spLocks noGrp="1"/>
          </p:cNvSpPr>
          <p:nvPr/>
        </p:nvSpPr>
        <p:spPr>
          <a:xfrm>
            <a:off x="6391275" y="1704975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37D5D2"/>
          </a:solidFill>
          <a:ln w="0">
            <a:noFill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2645473-DC5A-4082-869F-D8950BCA5AF7}"/>
              </a:ext>
            </a:extLst>
          </p:cNvPr>
          <p:cNvSpPr>
            <a:spLocks noGrp="1"/>
          </p:cNvSpPr>
          <p:nvPr/>
        </p:nvSpPr>
        <p:spPr>
          <a:xfrm>
            <a:off x="6391275" y="1704975"/>
            <a:ext cx="4000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07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07AD271-65D4-4048-97B5-D6EBC802E2BD}"/>
              </a:ext>
            </a:extLst>
          </p:cNvPr>
          <p:cNvSpPr>
            <a:spLocks noGrp="1"/>
          </p:cNvSpPr>
          <p:nvPr/>
        </p:nvSpPr>
        <p:spPr>
          <a:xfrm>
            <a:off x="6410325" y="2181225"/>
            <a:ext cx="1323975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Blue Team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26C3986-3F27-400A-BB9B-77863D1036BB}"/>
              </a:ext>
            </a:extLst>
          </p:cNvPr>
          <p:cNvSpPr>
            <a:spLocks noGrp="1"/>
          </p:cNvSpPr>
          <p:nvPr/>
        </p:nvSpPr>
        <p:spPr>
          <a:xfrm>
            <a:off x="6381750" y="2533650"/>
            <a:ext cx="1381125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0">
                <a:solidFill>
                  <a:srgbClr val="C6D8E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6D8E5"/>
                </a:solidFill>
                <a:latin typeface="Arial"/>
                <a:ea typeface="Arial"/>
                <a:cs typeface="Arial"/>
              </a:rPr>
              <a:t>Synthesize patch</a:t>
            </a:r>
          </a:p>
          <a:p>
            <a:pPr>
              <a:defRPr sz="1050" b="0">
                <a:solidFill>
                  <a:srgbClr val="C6D8E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6D8E5"/>
                </a:solidFill>
                <a:latin typeface="Arial"/>
                <a:ea typeface="Arial"/>
                <a:cs typeface="Arial"/>
              </a:rPr>
              <a:t>Guard file diff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5C6CBAD-E931-4AD8-9BD1-1B0F571FCECA}"/>
              </a:ext>
            </a:extLst>
          </p:cNvPr>
          <p:cNvSpPr>
            <a:spLocks noGrp="1"/>
          </p:cNvSpPr>
          <p:nvPr/>
        </p:nvSpPr>
        <p:spPr>
          <a:xfrm>
            <a:off x="7905750" y="2257425"/>
            <a:ext cx="285750" cy="38100"/>
          </a:xfrm>
          <a:prstGeom prst="rect">
            <a:avLst/>
          </a:prstGeom>
          <a:solidFill>
            <a:srgbClr val="37D5D2"/>
          </a:solidFill>
          <a:ln w="0">
            <a:noFill/>
          </a:ln>
        </p:spPr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AD4701D2-4692-4DE8-B623-30FFB4715F92}"/>
              </a:ext>
            </a:extLst>
          </p:cNvPr>
          <p:cNvSpPr>
            <a:spLocks noGrp="1"/>
          </p:cNvSpPr>
          <p:nvPr/>
        </p:nvSpPr>
        <p:spPr>
          <a:xfrm>
            <a:off x="8191500" y="1571625"/>
            <a:ext cx="1666875" cy="1428750"/>
          </a:xfrm>
          <a:prstGeom prst="roundRect">
            <a:avLst>
              <a:gd name="adj" fmla="val 5333"/>
            </a:avLst>
          </a:prstGeom>
          <a:solidFill>
            <a:srgbClr val="0E2A40"/>
          </a:solidFill>
          <a:ln w="9525">
            <a:solidFill>
              <a:srgbClr val="2A4A61"/>
            </a:solidFill>
          </a:ln>
        </p:spPr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287CDDE-C8C6-4016-B366-E8968C56F342}"/>
              </a:ext>
            </a:extLst>
          </p:cNvPr>
          <p:cNvSpPr>
            <a:spLocks noGrp="1"/>
          </p:cNvSpPr>
          <p:nvPr/>
        </p:nvSpPr>
        <p:spPr>
          <a:xfrm>
            <a:off x="8343900" y="1704975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37D5D2"/>
          </a:solidFill>
          <a:ln w="0">
            <a:noFill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9D0F78A-5050-4D0C-BCC1-55ED5F18CCBC}"/>
              </a:ext>
            </a:extLst>
          </p:cNvPr>
          <p:cNvSpPr>
            <a:spLocks noGrp="1"/>
          </p:cNvSpPr>
          <p:nvPr/>
        </p:nvSpPr>
        <p:spPr>
          <a:xfrm>
            <a:off x="8343900" y="1704975"/>
            <a:ext cx="4000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07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05566D1-B850-417C-928F-F10BE831746D}"/>
              </a:ext>
            </a:extLst>
          </p:cNvPr>
          <p:cNvSpPr>
            <a:spLocks noGrp="1"/>
          </p:cNvSpPr>
          <p:nvPr/>
        </p:nvSpPr>
        <p:spPr>
          <a:xfrm>
            <a:off x="8362950" y="2181225"/>
            <a:ext cx="1323975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Validator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AE60CC6-1E33-4B39-852B-825FC3E7D071}"/>
              </a:ext>
            </a:extLst>
          </p:cNvPr>
          <p:cNvSpPr>
            <a:spLocks noGrp="1"/>
          </p:cNvSpPr>
          <p:nvPr/>
        </p:nvSpPr>
        <p:spPr>
          <a:xfrm>
            <a:off x="8334375" y="2533650"/>
            <a:ext cx="1381125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0">
                <a:solidFill>
                  <a:srgbClr val="C6D8E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6D8E5"/>
                </a:solidFill>
                <a:latin typeface="Arial"/>
                <a:ea typeface="Arial"/>
                <a:cs typeface="Arial"/>
              </a:rPr>
              <a:t>Build and replay</a:t>
            </a:r>
          </a:p>
          <a:p>
            <a:pPr>
              <a:defRPr sz="1050" b="0">
                <a:solidFill>
                  <a:srgbClr val="C6D8E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6D8E5"/>
                </a:solidFill>
                <a:latin typeface="Arial"/>
                <a:ea typeface="Arial"/>
                <a:cs typeface="Arial"/>
              </a:rPr>
              <a:t>Run regressions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CADA8DB-23EB-48CB-B889-AABB04E5F60E}"/>
              </a:ext>
            </a:extLst>
          </p:cNvPr>
          <p:cNvSpPr>
            <a:spLocks noGrp="1"/>
          </p:cNvSpPr>
          <p:nvPr/>
        </p:nvSpPr>
        <p:spPr>
          <a:xfrm>
            <a:off x="9858375" y="2257425"/>
            <a:ext cx="285750" cy="38100"/>
          </a:xfrm>
          <a:prstGeom prst="rect">
            <a:avLst/>
          </a:prstGeom>
          <a:solidFill>
            <a:srgbClr val="37D5D2"/>
          </a:solidFill>
          <a:ln w="0">
            <a:noFill/>
          </a:ln>
        </p:spPr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C2DA64C8-A73A-4AD3-90BD-24ADEB0521E6}"/>
              </a:ext>
            </a:extLst>
          </p:cNvPr>
          <p:cNvSpPr>
            <a:spLocks noGrp="1"/>
          </p:cNvSpPr>
          <p:nvPr/>
        </p:nvSpPr>
        <p:spPr>
          <a:xfrm>
            <a:off x="10144125" y="1571625"/>
            <a:ext cx="1666875" cy="1428750"/>
          </a:xfrm>
          <a:prstGeom prst="roundRect">
            <a:avLst>
              <a:gd name="adj" fmla="val 5333"/>
            </a:avLst>
          </a:prstGeom>
          <a:solidFill>
            <a:srgbClr val="0E2A40"/>
          </a:solidFill>
          <a:ln w="9525">
            <a:solidFill>
              <a:srgbClr val="2A4A61"/>
            </a:solidFill>
          </a:ln>
        </p:spPr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F8E7C280-77E2-4B09-9FC7-C4E0DCD8E16A}"/>
              </a:ext>
            </a:extLst>
          </p:cNvPr>
          <p:cNvSpPr>
            <a:spLocks noGrp="1"/>
          </p:cNvSpPr>
          <p:nvPr/>
        </p:nvSpPr>
        <p:spPr>
          <a:xfrm>
            <a:off x="10296525" y="1704975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FFAA3B"/>
          </a:solidFill>
          <a:ln w="0">
            <a:noFill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574E083-7D92-4F88-BCD9-FFB96C5B1362}"/>
              </a:ext>
            </a:extLst>
          </p:cNvPr>
          <p:cNvSpPr>
            <a:spLocks noGrp="1"/>
          </p:cNvSpPr>
          <p:nvPr/>
        </p:nvSpPr>
        <p:spPr>
          <a:xfrm>
            <a:off x="10296525" y="1704975"/>
            <a:ext cx="4000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07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182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44BCFED-C91A-45BE-BE72-C32143163409}"/>
              </a:ext>
            </a:extLst>
          </p:cNvPr>
          <p:cNvSpPr>
            <a:spLocks noGrp="1"/>
          </p:cNvSpPr>
          <p:nvPr/>
        </p:nvSpPr>
        <p:spPr>
          <a:xfrm>
            <a:off x="10315575" y="2181225"/>
            <a:ext cx="1323975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Outcome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3366CA4-C8A8-4403-86EF-4E3CB8DB2F8F}"/>
              </a:ext>
            </a:extLst>
          </p:cNvPr>
          <p:cNvSpPr>
            <a:spLocks noGrp="1"/>
          </p:cNvSpPr>
          <p:nvPr/>
        </p:nvSpPr>
        <p:spPr>
          <a:xfrm>
            <a:off x="10287000" y="2533650"/>
            <a:ext cx="1381125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0">
                <a:solidFill>
                  <a:srgbClr val="C6D8E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6D8E5"/>
                </a:solidFill>
                <a:latin typeface="Arial"/>
                <a:ea typeface="Arial"/>
                <a:cs typeface="Arial"/>
              </a:rPr>
              <a:t>Accept, retry</a:t>
            </a:r>
          </a:p>
          <a:p>
            <a:pPr>
              <a:defRPr sz="1050" b="0">
                <a:solidFill>
                  <a:srgbClr val="C6D8E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6D8E5"/>
                </a:solidFill>
                <a:latin typeface="Arial"/>
                <a:ea typeface="Arial"/>
                <a:cs typeface="Arial"/>
              </a:rPr>
              <a:t>Abstain, review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5897D0CF-449C-4324-8E97-A9EBE76198E2}"/>
              </a:ext>
            </a:extLst>
          </p:cNvPr>
          <p:cNvSpPr>
            <a:spLocks noGrp="1"/>
          </p:cNvSpPr>
          <p:nvPr/>
        </p:nvSpPr>
        <p:spPr>
          <a:xfrm>
            <a:off x="1000125" y="3857625"/>
            <a:ext cx="10191750" cy="1190625"/>
          </a:xfrm>
          <a:prstGeom prst="roundRect">
            <a:avLst>
              <a:gd name="adj" fmla="val 6400"/>
            </a:avLst>
          </a:prstGeom>
          <a:solidFill>
            <a:srgbClr val="123650"/>
          </a:solidFill>
          <a:ln w="9525">
            <a:solidFill>
              <a:srgbClr val="2A4A61"/>
            </a:solidFill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CF1D48F-1C98-4136-9FA4-32DDD2E0F77D}"/>
              </a:ext>
            </a:extLst>
          </p:cNvPr>
          <p:cNvSpPr>
            <a:spLocks noGrp="1"/>
          </p:cNvSpPr>
          <p:nvPr/>
        </p:nvSpPr>
        <p:spPr>
          <a:xfrm>
            <a:off x="1238250" y="4048125"/>
            <a:ext cx="97155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1">
                <a:solidFill>
                  <a:srgbClr val="37D5D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7D5D2"/>
                </a:solidFill>
                <a:latin typeface="Arial"/>
                <a:ea typeface="Arial"/>
                <a:cs typeface="Arial"/>
              </a:rPr>
              <a:t>Shared evidence ledger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99EEE54-4E7A-49E0-B295-FB773D16757E}"/>
              </a:ext>
            </a:extLst>
          </p:cNvPr>
          <p:cNvSpPr>
            <a:spLocks noGrp="1"/>
          </p:cNvSpPr>
          <p:nvPr/>
        </p:nvSpPr>
        <p:spPr>
          <a:xfrm>
            <a:off x="1285875" y="4438650"/>
            <a:ext cx="9572625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C6D8E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6D8E5"/>
                </a:solidFill>
                <a:latin typeface="Arial"/>
                <a:ea typeface="Arial"/>
                <a:cs typeface="Arial"/>
              </a:rPr>
              <a:t>Source snapshots     Raw analyzer diagnostics     Ranked candidate     PoC and Forge output</a:t>
            </a:r>
          </a:p>
          <a:p>
            <a:pPr>
              <a:defRPr sz="1275" b="0">
                <a:solidFill>
                  <a:srgbClr val="C6D8E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6D8E5"/>
                </a:solidFill>
                <a:latin typeface="Arial"/>
                <a:ea typeface="Arial"/>
                <a:cs typeface="Arial"/>
              </a:rPr>
              <a:t>Guarded patch     Validation results     Retry history     Final report path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018947B-5CC8-4E26-8AD4-888B69179EF6}"/>
              </a:ext>
            </a:extLst>
          </p:cNvPr>
          <p:cNvSpPr>
            <a:spLocks noGrp="1"/>
          </p:cNvSpPr>
          <p:nvPr/>
        </p:nvSpPr>
        <p:spPr>
          <a:xfrm>
            <a:off x="1381125" y="5505450"/>
            <a:ext cx="9429750" cy="4953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1">
                <a:solidFill>
                  <a:srgbClr val="FFAA3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AA3B"/>
                </a:solidFill>
                <a:latin typeface="Arial"/>
                <a:ea typeface="Arial"/>
                <a:cs typeface="Arial"/>
              </a:rPr>
              <a:t>A failed Validator gate returns the failure reason to Blue Team. The workflow stops after five attempts and requests review.</a:t>
            </a:r>
          </a:p>
        </p:txBody>
      </p:sp>
    </p:spTree>
    <p:extLst>
      <p:ext uri="{BB962C8B-B14F-4D97-AF65-F5344CB8AC3E}">
        <p14:creationId xmlns:p14="http://schemas.microsoft.com/office/powerpoint/2010/main" val="468609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8C36081F-275B-4E3A-9FEC-8F01DB49BEC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37D5D2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74951D-3C92-4933-BD3D-CB4035A8C91E}"/>
              </a:ext>
            </a:extLst>
          </p:cNvPr>
          <p:cNvSpPr>
            <a:spLocks noGrp="1"/>
          </p:cNvSpPr>
          <p:nvPr/>
        </p:nvSpPr>
        <p:spPr>
          <a:xfrm>
            <a:off x="647700" y="304800"/>
            <a:ext cx="20955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75" b="1">
                <a:solidFill>
                  <a:srgbClr val="37D5D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7D5D2"/>
                </a:solidFill>
                <a:latin typeface="Arial"/>
                <a:ea typeface="Arial"/>
                <a:cs typeface="Arial"/>
              </a:rPr>
              <a:t>WORKFLOW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D53449-05CF-4A46-AD95-A9E796B226FF}"/>
              </a:ext>
            </a:extLst>
          </p:cNvPr>
          <p:cNvSpPr>
            <a:spLocks noGrp="1"/>
          </p:cNvSpPr>
          <p:nvPr/>
        </p:nvSpPr>
        <p:spPr>
          <a:xfrm>
            <a:off x="647700" y="590550"/>
            <a:ext cx="10572750" cy="5334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550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Methodology and phase decisions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C88A3D-FB61-489D-91B3-B1A9F84336F4}"/>
              </a:ext>
            </a:extLst>
          </p:cNvPr>
          <p:cNvSpPr>
            <a:spLocks noGrp="1"/>
          </p:cNvSpPr>
          <p:nvPr/>
        </p:nvSpPr>
        <p:spPr>
          <a:xfrm>
            <a:off x="647700" y="1190625"/>
            <a:ext cx="10877550" cy="19050"/>
          </a:xfrm>
          <a:prstGeom prst="rect">
            <a:avLst/>
          </a:prstGeom>
          <a:solidFill>
            <a:srgbClr val="2A4A61"/>
          </a:solidFill>
          <a:ln w="0">
            <a:noFill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886FA6-0C6C-4ABD-801C-7EA543CBC10A}"/>
              </a:ext>
            </a:extLst>
          </p:cNvPr>
          <p:cNvSpPr>
            <a:spLocks noGrp="1"/>
          </p:cNvSpPr>
          <p:nvPr/>
        </p:nvSpPr>
        <p:spPr>
          <a:xfrm>
            <a:off x="11144250" y="323850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1">
                <a:solidFill>
                  <a:srgbClr val="91A9B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1A9B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14A4E4-3F3C-4C5C-AEB1-7C441A067BF6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171450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1">
                <a:solidFill>
                  <a:srgbClr val="37D5D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7D5D2"/>
                </a:solidFill>
                <a:latin typeface="Arial"/>
                <a:ea typeface="Arial"/>
                <a:cs typeface="Arial"/>
              </a:rPr>
              <a:t>PHASE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9B2707-8389-4C63-8BC5-F38DE7794B02}"/>
              </a:ext>
            </a:extLst>
          </p:cNvPr>
          <p:cNvSpPr>
            <a:spLocks noGrp="1"/>
          </p:cNvSpPr>
          <p:nvPr/>
        </p:nvSpPr>
        <p:spPr>
          <a:xfrm>
            <a:off x="2667000" y="1428750"/>
            <a:ext cx="476250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1">
                <a:solidFill>
                  <a:srgbClr val="37D5D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7D5D2"/>
                </a:solidFill>
                <a:latin typeface="Arial"/>
                <a:ea typeface="Arial"/>
                <a:cs typeface="Arial"/>
              </a:rPr>
              <a:t>WHAT SENTINEL DOES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6F48003-D4D6-4721-B3A2-760C835BE64A}"/>
              </a:ext>
            </a:extLst>
          </p:cNvPr>
          <p:cNvSpPr>
            <a:spLocks noGrp="1"/>
          </p:cNvSpPr>
          <p:nvPr/>
        </p:nvSpPr>
        <p:spPr>
          <a:xfrm>
            <a:off x="666750" y="1800225"/>
            <a:ext cx="10572750" cy="9525"/>
          </a:xfrm>
          <a:prstGeom prst="rect">
            <a:avLst/>
          </a:prstGeom>
          <a:solidFill>
            <a:srgbClr val="2A4A61"/>
          </a:solidFill>
          <a:ln w="0">
            <a:noFill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EB7C5D-C831-41C5-96C6-1C9A9E2C31A9}"/>
              </a:ext>
            </a:extLst>
          </p:cNvPr>
          <p:cNvSpPr>
            <a:spLocks noGrp="1"/>
          </p:cNvSpPr>
          <p:nvPr/>
        </p:nvSpPr>
        <p:spPr>
          <a:xfrm>
            <a:off x="685800" y="1847850"/>
            <a:ext cx="180975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1. Initialize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68E840-3A1E-47E3-A025-D7EC2A0CAFA7}"/>
              </a:ext>
            </a:extLst>
          </p:cNvPr>
          <p:cNvSpPr>
            <a:spLocks noGrp="1"/>
          </p:cNvSpPr>
          <p:nvPr/>
        </p:nvSpPr>
        <p:spPr>
          <a:xfrm>
            <a:off x="2667000" y="1847850"/>
            <a:ext cx="5619750" cy="590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C6D8E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6D8E5"/>
                </a:solidFill>
                <a:latin typeface="Arial"/>
                <a:ea typeface="Arial"/>
                <a:cs typeface="Arial"/>
              </a:rPr>
              <a:t>Check Foundry project, read configuration, copy files, and create RuntimeState.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653C1E-EBA2-4094-8AB1-A8C7D9C7E6E5}"/>
              </a:ext>
            </a:extLst>
          </p:cNvPr>
          <p:cNvSpPr>
            <a:spLocks noGrp="1"/>
          </p:cNvSpPr>
          <p:nvPr/>
        </p:nvSpPr>
        <p:spPr>
          <a:xfrm>
            <a:off x="666750" y="2638425"/>
            <a:ext cx="10572750" cy="9525"/>
          </a:xfrm>
          <a:prstGeom prst="rect">
            <a:avLst/>
          </a:prstGeom>
          <a:solidFill>
            <a:srgbClr val="2A4A61"/>
          </a:solidFill>
          <a:ln w="0">
            <a:noFill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31C25DF-9F98-49AC-904E-EA2DB9D28E81}"/>
              </a:ext>
            </a:extLst>
          </p:cNvPr>
          <p:cNvSpPr>
            <a:spLocks noGrp="1"/>
          </p:cNvSpPr>
          <p:nvPr/>
        </p:nvSpPr>
        <p:spPr>
          <a:xfrm>
            <a:off x="685800" y="2686050"/>
            <a:ext cx="180975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2. Discover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E14DACD-D3DB-4ED1-B556-4C14A6F2486D}"/>
              </a:ext>
            </a:extLst>
          </p:cNvPr>
          <p:cNvSpPr>
            <a:spLocks noGrp="1"/>
          </p:cNvSpPr>
          <p:nvPr/>
        </p:nvSpPr>
        <p:spPr>
          <a:xfrm>
            <a:off x="2667000" y="2686050"/>
            <a:ext cx="5619750" cy="590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C6D8E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6D8E5"/>
                </a:solidFill>
                <a:latin typeface="Arial"/>
                <a:ea typeface="Arial"/>
                <a:cs typeface="Arial"/>
              </a:rPr>
              <a:t>Run analyzers, parse JSON, deduplicate exact reports, and rank one candidate.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CCD0BC2-6E72-4EF5-A7D1-DF2753F3D3B8}"/>
              </a:ext>
            </a:extLst>
          </p:cNvPr>
          <p:cNvSpPr>
            <a:spLocks noGrp="1"/>
          </p:cNvSpPr>
          <p:nvPr/>
        </p:nvSpPr>
        <p:spPr>
          <a:xfrm>
            <a:off x="666750" y="3476625"/>
            <a:ext cx="10572750" cy="9525"/>
          </a:xfrm>
          <a:prstGeom prst="rect">
            <a:avLst/>
          </a:prstGeom>
          <a:solidFill>
            <a:srgbClr val="2A4A61"/>
          </a:solidFill>
          <a:ln w="0">
            <a:noFill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0E79E01-677F-48E5-BF6B-9D74610B849A}"/>
              </a:ext>
            </a:extLst>
          </p:cNvPr>
          <p:cNvSpPr>
            <a:spLocks noGrp="1"/>
          </p:cNvSpPr>
          <p:nvPr/>
        </p:nvSpPr>
        <p:spPr>
          <a:xfrm>
            <a:off x="685800" y="3524250"/>
            <a:ext cx="180975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3. Confirm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6C100ED-F999-4868-BA81-3E243CE81507}"/>
              </a:ext>
            </a:extLst>
          </p:cNvPr>
          <p:cNvSpPr>
            <a:spLocks noGrp="1"/>
          </p:cNvSpPr>
          <p:nvPr/>
        </p:nvSpPr>
        <p:spPr>
          <a:xfrm>
            <a:off x="2667000" y="3524250"/>
            <a:ext cx="5619750" cy="590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C6D8E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6D8E5"/>
                </a:solidFill>
                <a:latin typeface="Arial"/>
                <a:ea typeface="Arial"/>
                <a:cs typeface="Arial"/>
              </a:rPr>
              <a:t>Create testExploit and execute it against the original copied source.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BF8DABD-6172-49FF-9DD2-614F09032E8B}"/>
              </a:ext>
            </a:extLst>
          </p:cNvPr>
          <p:cNvSpPr>
            <a:spLocks noGrp="1"/>
          </p:cNvSpPr>
          <p:nvPr/>
        </p:nvSpPr>
        <p:spPr>
          <a:xfrm>
            <a:off x="666750" y="4314825"/>
            <a:ext cx="10572750" cy="9525"/>
          </a:xfrm>
          <a:prstGeom prst="rect">
            <a:avLst/>
          </a:prstGeom>
          <a:solidFill>
            <a:srgbClr val="2A4A61"/>
          </a:solidFill>
          <a:ln w="0">
            <a:noFill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93BBC01-009F-4282-9D71-848780D053A8}"/>
              </a:ext>
            </a:extLst>
          </p:cNvPr>
          <p:cNvSpPr>
            <a:spLocks noGrp="1"/>
          </p:cNvSpPr>
          <p:nvPr/>
        </p:nvSpPr>
        <p:spPr>
          <a:xfrm>
            <a:off x="685800" y="4362450"/>
            <a:ext cx="180975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4. Repair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73B35C0-FDD8-4132-B9E3-341D4D8C12C7}"/>
              </a:ext>
            </a:extLst>
          </p:cNvPr>
          <p:cNvSpPr>
            <a:spLocks noGrp="1"/>
          </p:cNvSpPr>
          <p:nvPr/>
        </p:nvSpPr>
        <p:spPr>
          <a:xfrm>
            <a:off x="2667000" y="4362450"/>
            <a:ext cx="5619750" cy="590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C6D8E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6D8E5"/>
                </a:solidFill>
                <a:latin typeface="Arial"/>
                <a:ea typeface="Arial"/>
                <a:cs typeface="Arial"/>
              </a:rPr>
              <a:t>Generate the smallest supported edit and validate every diff target and hunk.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1EADB5D-31B9-4047-88D1-924F136C7D4E}"/>
              </a:ext>
            </a:extLst>
          </p:cNvPr>
          <p:cNvSpPr>
            <a:spLocks noGrp="1"/>
          </p:cNvSpPr>
          <p:nvPr/>
        </p:nvSpPr>
        <p:spPr>
          <a:xfrm>
            <a:off x="666750" y="5153025"/>
            <a:ext cx="10572750" cy="9525"/>
          </a:xfrm>
          <a:prstGeom prst="rect">
            <a:avLst/>
          </a:prstGeom>
          <a:solidFill>
            <a:srgbClr val="2A4A61"/>
          </a:solidFill>
          <a:ln w="0">
            <a:noFill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0FC8FD4-4BCC-4DCF-AC61-58500447690B}"/>
              </a:ext>
            </a:extLst>
          </p:cNvPr>
          <p:cNvSpPr>
            <a:spLocks noGrp="1"/>
          </p:cNvSpPr>
          <p:nvPr/>
        </p:nvSpPr>
        <p:spPr>
          <a:xfrm>
            <a:off x="685800" y="5200650"/>
            <a:ext cx="180975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5. Verify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C62F42F-96AD-4B79-A7DF-6BCB010CECA0}"/>
              </a:ext>
            </a:extLst>
          </p:cNvPr>
          <p:cNvSpPr>
            <a:spLocks noGrp="1"/>
          </p:cNvSpPr>
          <p:nvPr/>
        </p:nvSpPr>
        <p:spPr>
          <a:xfrm>
            <a:off x="2667000" y="5200650"/>
            <a:ext cx="5619750" cy="590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C6D8E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6D8E5"/>
                </a:solidFill>
                <a:latin typeface="Arial"/>
                <a:ea typeface="Arial"/>
                <a:cs typeface="Arial"/>
              </a:rPr>
              <a:t>Run forge build, exploit replay, regression tests, and optional project oracles.</a:t>
            </a:r>
          </a:p>
        </p:txBody>
      </p:sp>
    </p:spTree>
    <p:extLst>
      <p:ext uri="{BB962C8B-B14F-4D97-AF65-F5344CB8AC3E}">
        <p14:creationId xmlns:p14="http://schemas.microsoft.com/office/powerpoint/2010/main" val="680902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C156E463-9F02-482A-B406-6F0AC1F5E2E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37D5D2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03E341-E694-4359-80F5-86B43D3368C1}"/>
              </a:ext>
            </a:extLst>
          </p:cNvPr>
          <p:cNvSpPr>
            <a:spLocks noGrp="1"/>
          </p:cNvSpPr>
          <p:nvPr/>
        </p:nvSpPr>
        <p:spPr>
          <a:xfrm>
            <a:off x="647700" y="304800"/>
            <a:ext cx="20955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75" b="1">
                <a:solidFill>
                  <a:srgbClr val="37D5D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7D5D2"/>
                </a:solidFill>
                <a:latin typeface="Arial"/>
                <a:ea typeface="Arial"/>
                <a:cs typeface="Arial"/>
              </a:rPr>
              <a:t>TECHNOLOGIES USED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69D4D4-037F-4FED-B528-ADB74B6C547B}"/>
              </a:ext>
            </a:extLst>
          </p:cNvPr>
          <p:cNvSpPr>
            <a:spLocks noGrp="1"/>
          </p:cNvSpPr>
          <p:nvPr/>
        </p:nvSpPr>
        <p:spPr>
          <a:xfrm>
            <a:off x="647700" y="590550"/>
            <a:ext cx="10572750" cy="5334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550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Technology stack and design choices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24162E-8BA7-4471-94A2-9840CB6A89D2}"/>
              </a:ext>
            </a:extLst>
          </p:cNvPr>
          <p:cNvSpPr>
            <a:spLocks noGrp="1"/>
          </p:cNvSpPr>
          <p:nvPr/>
        </p:nvSpPr>
        <p:spPr>
          <a:xfrm>
            <a:off x="647700" y="1190625"/>
            <a:ext cx="10877550" cy="19050"/>
          </a:xfrm>
          <a:prstGeom prst="rect">
            <a:avLst/>
          </a:prstGeom>
          <a:solidFill>
            <a:srgbClr val="2A4A61"/>
          </a:solidFill>
          <a:ln w="0">
            <a:noFill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E46C2A-1881-4468-9237-FF0B523DEEA4}"/>
              </a:ext>
            </a:extLst>
          </p:cNvPr>
          <p:cNvSpPr>
            <a:spLocks noGrp="1"/>
          </p:cNvSpPr>
          <p:nvPr/>
        </p:nvSpPr>
        <p:spPr>
          <a:xfrm>
            <a:off x="11144250" y="323850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1">
                <a:solidFill>
                  <a:srgbClr val="91A9B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1A9B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00AA47-532E-401A-944C-97A35C6FD08C}"/>
              </a:ext>
            </a:extLst>
          </p:cNvPr>
          <p:cNvSpPr>
            <a:spLocks noGrp="1"/>
          </p:cNvSpPr>
          <p:nvPr/>
        </p:nvSpPr>
        <p:spPr>
          <a:xfrm>
            <a:off x="523875" y="1524000"/>
            <a:ext cx="4000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1">
                <a:solidFill>
                  <a:srgbClr val="37D5D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7D5D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E6AF82-B60A-47A4-A91B-07760465DA73}"/>
              </a:ext>
            </a:extLst>
          </p:cNvPr>
          <p:cNvSpPr>
            <a:spLocks noGrp="1"/>
          </p:cNvSpPr>
          <p:nvPr/>
        </p:nvSpPr>
        <p:spPr>
          <a:xfrm>
            <a:off x="523875" y="1952625"/>
            <a:ext cx="2047875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Python application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30E3C7-7B68-4870-9187-BCA3807E66F9}"/>
              </a:ext>
            </a:extLst>
          </p:cNvPr>
          <p:cNvSpPr>
            <a:spLocks noGrp="1"/>
          </p:cNvSpPr>
          <p:nvPr/>
        </p:nvSpPr>
        <p:spPr>
          <a:xfrm>
            <a:off x="523875" y="2571750"/>
            <a:ext cx="2000250" cy="19050"/>
          </a:xfrm>
          <a:prstGeom prst="rect">
            <a:avLst/>
          </a:prstGeom>
          <a:solidFill>
            <a:srgbClr val="37D5D2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6F5435-1077-4DF0-88FF-53CAFBF819C8}"/>
              </a:ext>
            </a:extLst>
          </p:cNvPr>
          <p:cNvSpPr>
            <a:spLocks noGrp="1"/>
          </p:cNvSpPr>
          <p:nvPr/>
        </p:nvSpPr>
        <p:spPr>
          <a:xfrm>
            <a:off x="523875" y="2809875"/>
            <a:ext cx="2047875" cy="1762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C6D8E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6D8E5"/>
                </a:solidFill>
                <a:latin typeface="Arial"/>
                <a:ea typeface="Arial"/>
                <a:cs typeface="Arial"/>
              </a:rPr>
              <a:t>Typer provides the CLI. FastAPI and Uvicorn serve the local dashboard and API.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BB232E-DDEC-49EB-8299-AAA988DA7336}"/>
              </a:ext>
            </a:extLst>
          </p:cNvPr>
          <p:cNvSpPr>
            <a:spLocks noGrp="1"/>
          </p:cNvSpPr>
          <p:nvPr/>
        </p:nvSpPr>
        <p:spPr>
          <a:xfrm>
            <a:off x="2857500" y="1524000"/>
            <a:ext cx="4000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1">
                <a:solidFill>
                  <a:srgbClr val="37D5D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7D5D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16772A-4B32-44FD-A9F4-9452474D0B24}"/>
              </a:ext>
            </a:extLst>
          </p:cNvPr>
          <p:cNvSpPr>
            <a:spLocks noGrp="1"/>
          </p:cNvSpPr>
          <p:nvPr/>
        </p:nvSpPr>
        <p:spPr>
          <a:xfrm>
            <a:off x="2857500" y="1952625"/>
            <a:ext cx="2047875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LangGraph and Pydantic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036EBA-6A5B-446D-B889-02542D049AF4}"/>
              </a:ext>
            </a:extLst>
          </p:cNvPr>
          <p:cNvSpPr>
            <a:spLocks noGrp="1"/>
          </p:cNvSpPr>
          <p:nvPr/>
        </p:nvSpPr>
        <p:spPr>
          <a:xfrm>
            <a:off x="2857500" y="2571750"/>
            <a:ext cx="2000250" cy="19050"/>
          </a:xfrm>
          <a:prstGeom prst="rect">
            <a:avLst/>
          </a:prstGeom>
          <a:solidFill>
            <a:srgbClr val="37D5D2"/>
          </a:solidFill>
          <a:ln w="0">
            <a:noFill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D44312F-4C1A-4516-BEB9-0354A9900FD0}"/>
              </a:ext>
            </a:extLst>
          </p:cNvPr>
          <p:cNvSpPr>
            <a:spLocks noGrp="1"/>
          </p:cNvSpPr>
          <p:nvPr/>
        </p:nvSpPr>
        <p:spPr>
          <a:xfrm>
            <a:off x="2857500" y="2809875"/>
            <a:ext cx="2047875" cy="1762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C6D8E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6D8E5"/>
                </a:solidFill>
                <a:latin typeface="Arial"/>
                <a:ea typeface="Arial"/>
                <a:cs typeface="Arial"/>
              </a:rPr>
              <a:t>LangGraph controls phase routing. Pydantic validates the shared state and JSON ledger.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5F3464-4F17-4D48-A3E1-AA81A00E1F60}"/>
              </a:ext>
            </a:extLst>
          </p:cNvPr>
          <p:cNvSpPr>
            <a:spLocks noGrp="1"/>
          </p:cNvSpPr>
          <p:nvPr/>
        </p:nvSpPr>
        <p:spPr>
          <a:xfrm>
            <a:off x="5191125" y="1524000"/>
            <a:ext cx="4000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1">
                <a:solidFill>
                  <a:srgbClr val="37D5D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7D5D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33A1BC-49ED-4DC5-BB4F-BEFC5158001E}"/>
              </a:ext>
            </a:extLst>
          </p:cNvPr>
          <p:cNvSpPr>
            <a:spLocks noGrp="1"/>
          </p:cNvSpPr>
          <p:nvPr/>
        </p:nvSpPr>
        <p:spPr>
          <a:xfrm>
            <a:off x="5191125" y="1952625"/>
            <a:ext cx="2047875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Slither and Mythril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FC93FB-E2B6-4AC5-B5A0-32F0F811C5B3}"/>
              </a:ext>
            </a:extLst>
          </p:cNvPr>
          <p:cNvSpPr>
            <a:spLocks noGrp="1"/>
          </p:cNvSpPr>
          <p:nvPr/>
        </p:nvSpPr>
        <p:spPr>
          <a:xfrm>
            <a:off x="5191125" y="2571750"/>
            <a:ext cx="2000250" cy="19050"/>
          </a:xfrm>
          <a:prstGeom prst="rect">
            <a:avLst/>
          </a:prstGeom>
          <a:solidFill>
            <a:srgbClr val="37D5D2"/>
          </a:solidFill>
          <a:ln w="0">
            <a:noFill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766218C-269E-4478-9CAF-B5E89E79E536}"/>
              </a:ext>
            </a:extLst>
          </p:cNvPr>
          <p:cNvSpPr>
            <a:spLocks noGrp="1"/>
          </p:cNvSpPr>
          <p:nvPr/>
        </p:nvSpPr>
        <p:spPr>
          <a:xfrm>
            <a:off x="5191125" y="2809875"/>
            <a:ext cx="2047875" cy="1762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C6D8E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6D8E5"/>
                </a:solidFill>
                <a:latin typeface="Arial"/>
                <a:ea typeface="Arial"/>
                <a:cs typeface="Arial"/>
              </a:rPr>
              <a:t>Static and symbolic analyzers provide complementary candidate evidence.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80815EE-C638-47C9-85AF-F1039BE832A6}"/>
              </a:ext>
            </a:extLst>
          </p:cNvPr>
          <p:cNvSpPr>
            <a:spLocks noGrp="1"/>
          </p:cNvSpPr>
          <p:nvPr/>
        </p:nvSpPr>
        <p:spPr>
          <a:xfrm>
            <a:off x="7524750" y="1524000"/>
            <a:ext cx="4000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1">
                <a:solidFill>
                  <a:srgbClr val="37D5D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7D5D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07A9DA8-6C7A-48E3-AD18-6B00988F826C}"/>
              </a:ext>
            </a:extLst>
          </p:cNvPr>
          <p:cNvSpPr>
            <a:spLocks noGrp="1"/>
          </p:cNvSpPr>
          <p:nvPr/>
        </p:nvSpPr>
        <p:spPr>
          <a:xfrm>
            <a:off x="7524750" y="1952625"/>
            <a:ext cx="2047875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Foundry and Forge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E1FC4C7-E671-4359-9431-6C0671FEF173}"/>
              </a:ext>
            </a:extLst>
          </p:cNvPr>
          <p:cNvSpPr>
            <a:spLocks noGrp="1"/>
          </p:cNvSpPr>
          <p:nvPr/>
        </p:nvSpPr>
        <p:spPr>
          <a:xfrm>
            <a:off x="7524750" y="2571750"/>
            <a:ext cx="2000250" cy="19050"/>
          </a:xfrm>
          <a:prstGeom prst="rect">
            <a:avLst/>
          </a:prstGeom>
          <a:solidFill>
            <a:srgbClr val="37D5D2"/>
          </a:solidFill>
          <a:ln w="0">
            <a:noFill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319F0DA-154A-4C5F-AFBC-BB57D45AFE72}"/>
              </a:ext>
            </a:extLst>
          </p:cNvPr>
          <p:cNvSpPr>
            <a:spLocks noGrp="1"/>
          </p:cNvSpPr>
          <p:nvPr/>
        </p:nvSpPr>
        <p:spPr>
          <a:xfrm>
            <a:off x="7524750" y="2809875"/>
            <a:ext cx="2047875" cy="1762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C6D8E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6D8E5"/>
                </a:solidFill>
                <a:latin typeface="Arial"/>
                <a:ea typeface="Arial"/>
                <a:cs typeface="Arial"/>
              </a:rPr>
              <a:t>The local EVM compiles contracts, executes the PoC, and runs regression tests.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21787D0-9080-4165-8040-B84C6B6E34DF}"/>
              </a:ext>
            </a:extLst>
          </p:cNvPr>
          <p:cNvSpPr>
            <a:spLocks noGrp="1"/>
          </p:cNvSpPr>
          <p:nvPr/>
        </p:nvSpPr>
        <p:spPr>
          <a:xfrm>
            <a:off x="9858375" y="1524000"/>
            <a:ext cx="4000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1">
                <a:solidFill>
                  <a:srgbClr val="FFAA3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AA3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776FC1B-5E7E-41A8-AB22-3EBB559140B0}"/>
              </a:ext>
            </a:extLst>
          </p:cNvPr>
          <p:cNvSpPr>
            <a:spLocks noGrp="1"/>
          </p:cNvSpPr>
          <p:nvPr/>
        </p:nvSpPr>
        <p:spPr>
          <a:xfrm>
            <a:off x="9858375" y="1952625"/>
            <a:ext cx="2047875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Optional model providers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5C08041-AC02-427B-B074-8EF67A19E6FC}"/>
              </a:ext>
            </a:extLst>
          </p:cNvPr>
          <p:cNvSpPr>
            <a:spLocks noGrp="1"/>
          </p:cNvSpPr>
          <p:nvPr/>
        </p:nvSpPr>
        <p:spPr>
          <a:xfrm>
            <a:off x="9858375" y="2571750"/>
            <a:ext cx="2000250" cy="19050"/>
          </a:xfrm>
          <a:prstGeom prst="rect">
            <a:avLst/>
          </a:prstGeom>
          <a:solidFill>
            <a:srgbClr val="FFAA3B"/>
          </a:solidFill>
          <a:ln w="0">
            <a:noFill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D8A5220-35C6-4DDF-8483-9DEF64A30BE2}"/>
              </a:ext>
            </a:extLst>
          </p:cNvPr>
          <p:cNvSpPr>
            <a:spLocks noGrp="1"/>
          </p:cNvSpPr>
          <p:nvPr/>
        </p:nvSpPr>
        <p:spPr>
          <a:xfrm>
            <a:off x="9858375" y="2809875"/>
            <a:ext cx="2047875" cy="1762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C6D8E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6D8E5"/>
                </a:solidFill>
                <a:latin typeface="Arial"/>
                <a:ea typeface="Arial"/>
                <a:cs typeface="Arial"/>
              </a:rPr>
              <a:t>Gemini, OpenAI, or Ollama can draft explanations, PoCs, and diffs when configured.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6B57F43-B07A-4171-BB39-819F6FBF2818}"/>
              </a:ext>
            </a:extLst>
          </p:cNvPr>
          <p:cNvSpPr>
            <a:spLocks noGrp="1"/>
          </p:cNvSpPr>
          <p:nvPr/>
        </p:nvSpPr>
        <p:spPr>
          <a:xfrm>
            <a:off x="666750" y="5286375"/>
            <a:ext cx="2095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Safety controls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12C1AF8-776D-47D7-BF18-88DF311D0A1E}"/>
              </a:ext>
            </a:extLst>
          </p:cNvPr>
          <p:cNvSpPr>
            <a:spLocks noGrp="1"/>
          </p:cNvSpPr>
          <p:nvPr/>
        </p:nvSpPr>
        <p:spPr>
          <a:xfrm>
            <a:off x="2714625" y="5219700"/>
            <a:ext cx="838200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C6D8E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6D8E5"/>
                </a:solidFill>
                <a:latin typeface="Arial"/>
                <a:ea typeface="Arial"/>
                <a:cs typeface="Arial"/>
              </a:rPr>
              <a:t>Executable allowlist, argument arrays, validated working directories, command timeouts, and isolated workspace copies</a:t>
            </a:r>
          </a:p>
        </p:txBody>
      </p:sp>
    </p:spTree>
    <p:extLst>
      <p:ext uri="{BB962C8B-B14F-4D97-AF65-F5344CB8AC3E}">
        <p14:creationId xmlns:p14="http://schemas.microsoft.com/office/powerpoint/2010/main" val="18174307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2C323B68-DBE9-4EB8-8C9E-1B4E098965E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37D5D2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A505016-1AA1-4483-918E-77745D46E06E}"/>
              </a:ext>
            </a:extLst>
          </p:cNvPr>
          <p:cNvSpPr>
            <a:spLocks noGrp="1"/>
          </p:cNvSpPr>
          <p:nvPr/>
        </p:nvSpPr>
        <p:spPr>
          <a:xfrm>
            <a:off x="647700" y="304800"/>
            <a:ext cx="20955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75" b="1">
                <a:solidFill>
                  <a:srgbClr val="37D5D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7D5D2"/>
                </a:solidFill>
                <a:latin typeface="Arial"/>
                <a:ea typeface="Arial"/>
                <a:cs typeface="Arial"/>
              </a:rPr>
              <a:t>RESEARCH BOUNDARY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FADB02-7B1C-4D0B-8B17-BBD7FD901832}"/>
              </a:ext>
            </a:extLst>
          </p:cNvPr>
          <p:cNvSpPr>
            <a:spLocks noGrp="1"/>
          </p:cNvSpPr>
          <p:nvPr/>
        </p:nvSpPr>
        <p:spPr>
          <a:xfrm>
            <a:off x="647700" y="590550"/>
            <a:ext cx="10572750" cy="5334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550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Current limitations and next evaluation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0AE2B2-92C2-4A3D-9580-75962970A63E}"/>
              </a:ext>
            </a:extLst>
          </p:cNvPr>
          <p:cNvSpPr>
            <a:spLocks noGrp="1"/>
          </p:cNvSpPr>
          <p:nvPr/>
        </p:nvSpPr>
        <p:spPr>
          <a:xfrm>
            <a:off x="647700" y="1190625"/>
            <a:ext cx="10877550" cy="19050"/>
          </a:xfrm>
          <a:prstGeom prst="rect">
            <a:avLst/>
          </a:prstGeom>
          <a:solidFill>
            <a:srgbClr val="2A4A61"/>
          </a:solidFill>
          <a:ln w="0">
            <a:noFill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2A21FE-603C-4489-9BD2-E424DD376FD7}"/>
              </a:ext>
            </a:extLst>
          </p:cNvPr>
          <p:cNvSpPr>
            <a:spLocks noGrp="1"/>
          </p:cNvSpPr>
          <p:nvPr/>
        </p:nvSpPr>
        <p:spPr>
          <a:xfrm>
            <a:off x="11144250" y="323850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1">
                <a:solidFill>
                  <a:srgbClr val="91A9B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1A9BA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A95F34-6951-41B5-AC2E-F29A9FBCB880}"/>
              </a:ext>
            </a:extLst>
          </p:cNvPr>
          <p:cNvSpPr>
            <a:spLocks noGrp="1"/>
          </p:cNvSpPr>
          <p:nvPr/>
        </p:nvSpPr>
        <p:spPr>
          <a:xfrm>
            <a:off x="685800" y="1476375"/>
            <a:ext cx="31432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1">
                <a:solidFill>
                  <a:srgbClr val="FFAA3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AA3B"/>
                </a:solidFill>
                <a:latin typeface="Arial"/>
                <a:ea typeface="Arial"/>
                <a:cs typeface="Arial"/>
              </a:rPr>
              <a:t>CURRENT LIMITATION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11FFDB-15D0-42A8-A146-6D95B2AEE3E2}"/>
              </a:ext>
            </a:extLst>
          </p:cNvPr>
          <p:cNvSpPr>
            <a:spLocks noGrp="1"/>
          </p:cNvSpPr>
          <p:nvPr/>
        </p:nvSpPr>
        <p:spPr>
          <a:xfrm>
            <a:off x="6381750" y="1476375"/>
            <a:ext cx="31432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1">
                <a:solidFill>
                  <a:srgbClr val="37D5D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7D5D2"/>
                </a:solidFill>
                <a:latin typeface="Arial"/>
                <a:ea typeface="Arial"/>
                <a:cs typeface="Arial"/>
              </a:rPr>
              <a:t>PLANNED RESPONSE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E18DD1-AE29-4002-922B-553AB888703F}"/>
              </a:ext>
            </a:extLst>
          </p:cNvPr>
          <p:cNvSpPr>
            <a:spLocks noGrp="1"/>
          </p:cNvSpPr>
          <p:nvPr/>
        </p:nvSpPr>
        <p:spPr>
          <a:xfrm>
            <a:off x="666750" y="1914525"/>
            <a:ext cx="4857750" cy="9525"/>
          </a:xfrm>
          <a:prstGeom prst="rect">
            <a:avLst/>
          </a:prstGeom>
          <a:solidFill>
            <a:srgbClr val="2A4A61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77EFA6-581D-401A-A372-19AEC70D6E55}"/>
              </a:ext>
            </a:extLst>
          </p:cNvPr>
          <p:cNvSpPr>
            <a:spLocks noGrp="1"/>
          </p:cNvSpPr>
          <p:nvPr/>
        </p:nvSpPr>
        <p:spPr>
          <a:xfrm>
            <a:off x="6381750" y="1914525"/>
            <a:ext cx="4857750" cy="9525"/>
          </a:xfrm>
          <a:prstGeom prst="rect">
            <a:avLst/>
          </a:prstGeom>
          <a:solidFill>
            <a:srgbClr val="2A4A61"/>
          </a:solidFill>
          <a:ln w="0">
            <a:noFill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98D3BE-6AD3-4B43-97E3-34AF54DE2CD4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4762500" cy="590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C6D8E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6D8E5"/>
                </a:solidFill>
                <a:latin typeface="Arial"/>
                <a:ea typeface="Arial"/>
                <a:cs typeface="Arial"/>
              </a:rPr>
              <a:t>Four end-to-end cases use known PoC and repair templates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CDB7C2-C092-4A0B-9EBF-DBD8F7497CF3}"/>
              </a:ext>
            </a:extLst>
          </p:cNvPr>
          <p:cNvSpPr>
            <a:spLocks noGrp="1"/>
          </p:cNvSpPr>
          <p:nvPr/>
        </p:nvSpPr>
        <p:spPr>
          <a:xfrm>
            <a:off x="6381750" y="1952625"/>
            <a:ext cx="4810125" cy="590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C6D8E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6D8E5"/>
                </a:solidFill>
                <a:latin typeface="Arial"/>
                <a:ea typeface="Arial"/>
                <a:cs typeface="Arial"/>
              </a:rPr>
              <a:t>Run held-out vulnerable Foundry projects with model-generated tests and patches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613AA5-52D6-424E-BA25-09BD27F3730A}"/>
              </a:ext>
            </a:extLst>
          </p:cNvPr>
          <p:cNvSpPr>
            <a:spLocks noGrp="1"/>
          </p:cNvSpPr>
          <p:nvPr/>
        </p:nvSpPr>
        <p:spPr>
          <a:xfrm>
            <a:off x="666750" y="2714625"/>
            <a:ext cx="4857750" cy="9525"/>
          </a:xfrm>
          <a:prstGeom prst="rect">
            <a:avLst/>
          </a:prstGeom>
          <a:solidFill>
            <a:srgbClr val="2A4A61"/>
          </a:solidFill>
          <a:ln w="0">
            <a:noFill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5D2C2FE-F687-41F3-9770-CC7D4B96CCA5}"/>
              </a:ext>
            </a:extLst>
          </p:cNvPr>
          <p:cNvSpPr>
            <a:spLocks noGrp="1"/>
          </p:cNvSpPr>
          <p:nvPr/>
        </p:nvSpPr>
        <p:spPr>
          <a:xfrm>
            <a:off x="6381750" y="2714625"/>
            <a:ext cx="4857750" cy="9525"/>
          </a:xfrm>
          <a:prstGeom prst="rect">
            <a:avLst/>
          </a:prstGeom>
          <a:solidFill>
            <a:srgbClr val="2A4A61"/>
          </a:solidFill>
          <a:ln w="0">
            <a:noFill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B978319-27CA-430B-A59D-708E5D828DA4}"/>
              </a:ext>
            </a:extLst>
          </p:cNvPr>
          <p:cNvSpPr>
            <a:spLocks noGrp="1"/>
          </p:cNvSpPr>
          <p:nvPr/>
        </p:nvSpPr>
        <p:spPr>
          <a:xfrm>
            <a:off x="685800" y="2752725"/>
            <a:ext cx="4762500" cy="590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C6D8E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6D8E5"/>
                </a:solidFill>
                <a:latin typeface="Arial"/>
                <a:ea typeface="Arial"/>
                <a:cs typeface="Arial"/>
              </a:rPr>
              <a:t>Slither failed in the reported fixture benchmark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866C2F9-66BE-4B08-A0BB-2CCA40F2B454}"/>
              </a:ext>
            </a:extLst>
          </p:cNvPr>
          <p:cNvSpPr>
            <a:spLocks noGrp="1"/>
          </p:cNvSpPr>
          <p:nvPr/>
        </p:nvSpPr>
        <p:spPr>
          <a:xfrm>
            <a:off x="6381750" y="2752725"/>
            <a:ext cx="4810125" cy="590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C6D8E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6D8E5"/>
                </a:solidFill>
                <a:latin typeface="Arial"/>
                <a:ea typeface="Arial"/>
                <a:cs typeface="Arial"/>
              </a:rPr>
              <a:t>Repair the analyzer environment and require complete-coverage denominators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9327EBC-7DB7-4E0A-9D54-0D8934DEA5BB}"/>
              </a:ext>
            </a:extLst>
          </p:cNvPr>
          <p:cNvSpPr>
            <a:spLocks noGrp="1"/>
          </p:cNvSpPr>
          <p:nvPr/>
        </p:nvSpPr>
        <p:spPr>
          <a:xfrm>
            <a:off x="666750" y="3514725"/>
            <a:ext cx="4857750" cy="9525"/>
          </a:xfrm>
          <a:prstGeom prst="rect">
            <a:avLst/>
          </a:prstGeom>
          <a:solidFill>
            <a:srgbClr val="2A4A61"/>
          </a:solidFill>
          <a:ln w="0">
            <a:noFill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288B44-C8FE-4ED7-847B-93DBAA465D4B}"/>
              </a:ext>
            </a:extLst>
          </p:cNvPr>
          <p:cNvSpPr>
            <a:spLocks noGrp="1"/>
          </p:cNvSpPr>
          <p:nvPr/>
        </p:nvSpPr>
        <p:spPr>
          <a:xfrm>
            <a:off x="6381750" y="3514725"/>
            <a:ext cx="4857750" cy="9525"/>
          </a:xfrm>
          <a:prstGeom prst="rect">
            <a:avLst/>
          </a:prstGeom>
          <a:solidFill>
            <a:srgbClr val="2A4A61"/>
          </a:solidFill>
          <a:ln w="0">
            <a:noFill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1A111B-CE85-4A39-A608-3659BC587AC5}"/>
              </a:ext>
            </a:extLst>
          </p:cNvPr>
          <p:cNvSpPr>
            <a:spLocks noGrp="1"/>
          </p:cNvSpPr>
          <p:nvPr/>
        </p:nvSpPr>
        <p:spPr>
          <a:xfrm>
            <a:off x="685800" y="3552825"/>
            <a:ext cx="4762500" cy="590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C6D8E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6D8E5"/>
                </a:solidFill>
                <a:latin typeface="Arial"/>
                <a:ea typeface="Arial"/>
                <a:cs typeface="Arial"/>
              </a:rPr>
              <a:t>The fixture set has no reviewed clean controls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65AEE77-C624-4E44-BCE5-596B9460B240}"/>
              </a:ext>
            </a:extLst>
          </p:cNvPr>
          <p:cNvSpPr>
            <a:spLocks noGrp="1"/>
          </p:cNvSpPr>
          <p:nvPr/>
        </p:nvSpPr>
        <p:spPr>
          <a:xfrm>
            <a:off x="6381750" y="3552825"/>
            <a:ext cx="4810125" cy="590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C6D8E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6D8E5"/>
                </a:solidFill>
                <a:latin typeface="Arial"/>
                <a:ea typeface="Arial"/>
                <a:cs typeface="Arial"/>
              </a:rPr>
              <a:t>Add clean contracts to measure false positives, precision, and F1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0B96E38-F3E0-4027-98D9-5208E7BECEF9}"/>
              </a:ext>
            </a:extLst>
          </p:cNvPr>
          <p:cNvSpPr>
            <a:spLocks noGrp="1"/>
          </p:cNvSpPr>
          <p:nvPr/>
        </p:nvSpPr>
        <p:spPr>
          <a:xfrm>
            <a:off x="666750" y="4314825"/>
            <a:ext cx="4857750" cy="9525"/>
          </a:xfrm>
          <a:prstGeom prst="rect">
            <a:avLst/>
          </a:prstGeom>
          <a:solidFill>
            <a:srgbClr val="2A4A61"/>
          </a:solidFill>
          <a:ln w="0">
            <a:noFill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D53DFDF-AFA7-4EA9-9049-6022A03734B5}"/>
              </a:ext>
            </a:extLst>
          </p:cNvPr>
          <p:cNvSpPr>
            <a:spLocks noGrp="1"/>
          </p:cNvSpPr>
          <p:nvPr/>
        </p:nvSpPr>
        <p:spPr>
          <a:xfrm>
            <a:off x="6381750" y="4314825"/>
            <a:ext cx="4857750" cy="9525"/>
          </a:xfrm>
          <a:prstGeom prst="rect">
            <a:avLst/>
          </a:prstGeom>
          <a:solidFill>
            <a:srgbClr val="2A4A61"/>
          </a:solidFill>
          <a:ln w="0">
            <a:noFill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A3EF0D0-6DA7-4EA9-BEF2-937905CFA89F}"/>
              </a:ext>
            </a:extLst>
          </p:cNvPr>
          <p:cNvSpPr>
            <a:spLocks noGrp="1"/>
          </p:cNvSpPr>
          <p:nvPr/>
        </p:nvSpPr>
        <p:spPr>
          <a:xfrm>
            <a:off x="685800" y="4352925"/>
            <a:ext cx="4762500" cy="590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C6D8E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6D8E5"/>
                </a:solidFill>
                <a:latin typeface="Arial"/>
                <a:ea typeface="Arial"/>
                <a:cs typeface="Arial"/>
              </a:rPr>
              <a:t>One selected candidate is handled per run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823BA99-3668-421B-970A-30EFA3F33AFF}"/>
              </a:ext>
            </a:extLst>
          </p:cNvPr>
          <p:cNvSpPr>
            <a:spLocks noGrp="1"/>
          </p:cNvSpPr>
          <p:nvPr/>
        </p:nvSpPr>
        <p:spPr>
          <a:xfrm>
            <a:off x="6381750" y="4352925"/>
            <a:ext cx="4810125" cy="590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C6D8E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6D8E5"/>
                </a:solidFill>
                <a:latin typeface="Arial"/>
                <a:ea typeface="Arial"/>
                <a:cs typeface="Arial"/>
              </a:rPr>
              <a:t>Evaluate multiple findings with equal time budgets and vulnerability-wise results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33D8A06-468B-4590-88D0-C322ECD65DE6}"/>
              </a:ext>
            </a:extLst>
          </p:cNvPr>
          <p:cNvSpPr>
            <a:spLocks noGrp="1"/>
          </p:cNvSpPr>
          <p:nvPr/>
        </p:nvSpPr>
        <p:spPr>
          <a:xfrm>
            <a:off x="666750" y="5114925"/>
            <a:ext cx="4857750" cy="9525"/>
          </a:xfrm>
          <a:prstGeom prst="rect">
            <a:avLst/>
          </a:prstGeom>
          <a:solidFill>
            <a:srgbClr val="2A4A61"/>
          </a:solidFill>
          <a:ln w="0">
            <a:noFill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04C8BEB-E998-4B71-A5C8-620CA2DD94A0}"/>
              </a:ext>
            </a:extLst>
          </p:cNvPr>
          <p:cNvSpPr>
            <a:spLocks noGrp="1"/>
          </p:cNvSpPr>
          <p:nvPr/>
        </p:nvSpPr>
        <p:spPr>
          <a:xfrm>
            <a:off x="6381750" y="5114925"/>
            <a:ext cx="4857750" cy="9525"/>
          </a:xfrm>
          <a:prstGeom prst="rect">
            <a:avLst/>
          </a:prstGeom>
          <a:solidFill>
            <a:srgbClr val="2A4A61"/>
          </a:solidFill>
          <a:ln w="0">
            <a:noFill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102A2BC-AC6E-47F1-8AA6-A9E3179F0B8B}"/>
              </a:ext>
            </a:extLst>
          </p:cNvPr>
          <p:cNvSpPr>
            <a:spLocks noGrp="1"/>
          </p:cNvSpPr>
          <p:nvPr/>
        </p:nvSpPr>
        <p:spPr>
          <a:xfrm>
            <a:off x="685800" y="5153025"/>
            <a:ext cx="4762500" cy="590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C6D8E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6D8E5"/>
                </a:solidFill>
                <a:latin typeface="Arial"/>
                <a:ea typeface="Arial"/>
                <a:cs typeface="Arial"/>
              </a:rPr>
              <a:t>Passing tests cover only specified behavior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B52AC22-6952-4EB7-8459-8BAD36D7D2AB}"/>
              </a:ext>
            </a:extLst>
          </p:cNvPr>
          <p:cNvSpPr>
            <a:spLocks noGrp="1"/>
          </p:cNvSpPr>
          <p:nvPr/>
        </p:nvSpPr>
        <p:spPr>
          <a:xfrm>
            <a:off x="6381750" y="5153025"/>
            <a:ext cx="4810125" cy="590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C6D8E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6D8E5"/>
                </a:solidFill>
                <a:latin typeface="Arial"/>
                <a:ea typeface="Arial"/>
                <a:cs typeface="Arial"/>
              </a:rPr>
              <a:t>Add stronger positive, security, ABI, storage, fuzzing, and invariant oracles</a:t>
            </a:r>
          </a:p>
        </p:txBody>
      </p:sp>
    </p:spTree>
    <p:extLst>
      <p:ext uri="{BB962C8B-B14F-4D97-AF65-F5344CB8AC3E}">
        <p14:creationId xmlns:p14="http://schemas.microsoft.com/office/powerpoint/2010/main" val="10324629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AD98B32-1E5C-44E7-AE0E-3D09D1EB8F4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37D5D2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5E0370-ED4F-4DB0-9FFD-B8D4CA0D9EC6}"/>
              </a:ext>
            </a:extLst>
          </p:cNvPr>
          <p:cNvSpPr>
            <a:spLocks noGrp="1"/>
          </p:cNvSpPr>
          <p:nvPr/>
        </p:nvSpPr>
        <p:spPr>
          <a:xfrm>
            <a:off x="647700" y="304800"/>
            <a:ext cx="20955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75" b="1">
                <a:solidFill>
                  <a:srgbClr val="37D5D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7D5D2"/>
                </a:solidFill>
                <a:latin typeface="Arial"/>
                <a:ea typeface="Arial"/>
                <a:cs typeface="Arial"/>
              </a:rPr>
              <a:t>PROJECT VALUE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733729-6A02-47FA-900B-7B33B89B397C}"/>
              </a:ext>
            </a:extLst>
          </p:cNvPr>
          <p:cNvSpPr>
            <a:spLocks noGrp="1"/>
          </p:cNvSpPr>
          <p:nvPr/>
        </p:nvSpPr>
        <p:spPr>
          <a:xfrm>
            <a:off x="647700" y="590550"/>
            <a:ext cx="10572750" cy="5334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550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6CB0F8-7D72-4849-9973-883F022E8416}"/>
              </a:ext>
            </a:extLst>
          </p:cNvPr>
          <p:cNvSpPr>
            <a:spLocks noGrp="1"/>
          </p:cNvSpPr>
          <p:nvPr/>
        </p:nvSpPr>
        <p:spPr>
          <a:xfrm>
            <a:off x="647700" y="1190625"/>
            <a:ext cx="10877550" cy="19050"/>
          </a:xfrm>
          <a:prstGeom prst="rect">
            <a:avLst/>
          </a:prstGeom>
          <a:solidFill>
            <a:srgbClr val="2A4A61"/>
          </a:solidFill>
          <a:ln w="0">
            <a:noFill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E63A1A-1222-4BCE-91A2-82528F6DEAA8}"/>
              </a:ext>
            </a:extLst>
          </p:cNvPr>
          <p:cNvSpPr>
            <a:spLocks noGrp="1"/>
          </p:cNvSpPr>
          <p:nvPr/>
        </p:nvSpPr>
        <p:spPr>
          <a:xfrm>
            <a:off x="11144250" y="323850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1">
                <a:solidFill>
                  <a:srgbClr val="91A9B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1A9BA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3E8FEE-6E9B-4B3E-8D11-E99DA45D2A50}"/>
              </a:ext>
            </a:extLst>
          </p:cNvPr>
          <p:cNvSpPr>
            <a:spLocks noGrp="1"/>
          </p:cNvSpPr>
          <p:nvPr/>
        </p:nvSpPr>
        <p:spPr>
          <a:xfrm>
            <a:off x="762000" y="1428750"/>
            <a:ext cx="10477500" cy="609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250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Sentinel provides a complete, inspectable path from a warning to a validated repair decision.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8A1931-BD9B-4EF0-9708-A4B5CFA0B340}"/>
              </a:ext>
            </a:extLst>
          </p:cNvPr>
          <p:cNvSpPr>
            <a:spLocks noGrp="1"/>
          </p:cNvSpPr>
          <p:nvPr/>
        </p:nvSpPr>
        <p:spPr>
          <a:xfrm>
            <a:off x="704850" y="2428875"/>
            <a:ext cx="45720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00" b="1">
                <a:solidFill>
                  <a:srgbClr val="3FCB9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FCB9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BCB1AA-5057-4745-B1BE-70CBD31D9AA8}"/>
              </a:ext>
            </a:extLst>
          </p:cNvPr>
          <p:cNvSpPr>
            <a:spLocks noGrp="1"/>
          </p:cNvSpPr>
          <p:nvPr/>
        </p:nvSpPr>
        <p:spPr>
          <a:xfrm>
            <a:off x="1352550" y="2400300"/>
            <a:ext cx="28575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75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Evidence is connected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4D9747-C726-4109-94FC-3DC6B4BDAB03}"/>
              </a:ext>
            </a:extLst>
          </p:cNvPr>
          <p:cNvSpPr>
            <a:spLocks noGrp="1"/>
          </p:cNvSpPr>
          <p:nvPr/>
        </p:nvSpPr>
        <p:spPr>
          <a:xfrm>
            <a:off x="4286250" y="2390775"/>
            <a:ext cx="695325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C6D8E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6D8E5"/>
                </a:solidFill>
                <a:latin typeface="Arial"/>
                <a:ea typeface="Arial"/>
                <a:cs typeface="Arial"/>
              </a:rPr>
              <a:t>The report links analyzer provenance, the executable attack, the exact patch, and the validation result.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DD510E-EBAC-465E-8075-B20CE17193C7}"/>
              </a:ext>
            </a:extLst>
          </p:cNvPr>
          <p:cNvSpPr>
            <a:spLocks noGrp="1"/>
          </p:cNvSpPr>
          <p:nvPr/>
        </p:nvSpPr>
        <p:spPr>
          <a:xfrm>
            <a:off x="704850" y="3381375"/>
            <a:ext cx="45720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00" b="1">
                <a:solidFill>
                  <a:srgbClr val="3FCB9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FCB9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339161-FD73-47B2-AC99-48C8C5E1B277}"/>
              </a:ext>
            </a:extLst>
          </p:cNvPr>
          <p:cNvSpPr>
            <a:spLocks noGrp="1"/>
          </p:cNvSpPr>
          <p:nvPr/>
        </p:nvSpPr>
        <p:spPr>
          <a:xfrm>
            <a:off x="1352550" y="3352800"/>
            <a:ext cx="28575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75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Acceptance is tool-driven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0D04B2-1871-4E46-8094-3545FE6749A6}"/>
              </a:ext>
            </a:extLst>
          </p:cNvPr>
          <p:cNvSpPr>
            <a:spLocks noGrp="1"/>
          </p:cNvSpPr>
          <p:nvPr/>
        </p:nvSpPr>
        <p:spPr>
          <a:xfrm>
            <a:off x="4286250" y="3343275"/>
            <a:ext cx="695325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C6D8E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6D8E5"/>
                </a:solidFill>
                <a:latin typeface="Arial"/>
                <a:ea typeface="Arial"/>
                <a:cs typeface="Arial"/>
              </a:rPr>
              <a:t>Forge compilation, exploit replay, regression tests, and optional project rules control the final decision.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4EF934-D39C-4F35-9652-52ADE3FE805D}"/>
              </a:ext>
            </a:extLst>
          </p:cNvPr>
          <p:cNvSpPr>
            <a:spLocks noGrp="1"/>
          </p:cNvSpPr>
          <p:nvPr/>
        </p:nvSpPr>
        <p:spPr>
          <a:xfrm>
            <a:off x="704850" y="4333875"/>
            <a:ext cx="45720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00" b="1">
                <a:solidFill>
                  <a:srgbClr val="3FCB9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FCB9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5DEE7D7-7459-43E0-A82D-2D8F115ACB38}"/>
              </a:ext>
            </a:extLst>
          </p:cNvPr>
          <p:cNvSpPr>
            <a:spLocks noGrp="1"/>
          </p:cNvSpPr>
          <p:nvPr/>
        </p:nvSpPr>
        <p:spPr>
          <a:xfrm>
            <a:off x="1352550" y="4305300"/>
            <a:ext cx="28575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75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Failures remain useful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74A434-2CF1-435C-9526-51568503EBC9}"/>
              </a:ext>
            </a:extLst>
          </p:cNvPr>
          <p:cNvSpPr>
            <a:spLocks noGrp="1"/>
          </p:cNvSpPr>
          <p:nvPr/>
        </p:nvSpPr>
        <p:spPr>
          <a:xfrm>
            <a:off x="4286250" y="4295775"/>
            <a:ext cx="695325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C6D8E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6D8E5"/>
                </a:solidFill>
                <a:latin typeface="Arial"/>
                <a:ea typeface="Arial"/>
                <a:cs typeface="Arial"/>
              </a:rPr>
              <a:t>Timeouts, unavailable analyzers, unsafe diffs, rejected repairs, and retries remain visible for review.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81DE40E-DF79-495C-91BB-689DB75D33DA}"/>
              </a:ext>
            </a:extLst>
          </p:cNvPr>
          <p:cNvSpPr>
            <a:spLocks noGrp="1"/>
          </p:cNvSpPr>
          <p:nvPr/>
        </p:nvSpPr>
        <p:spPr>
          <a:xfrm>
            <a:off x="1285875" y="5476875"/>
            <a:ext cx="9620250" cy="723900"/>
          </a:xfrm>
          <a:prstGeom prst="roundRect">
            <a:avLst>
              <a:gd name="adj" fmla="val 10526"/>
            </a:avLst>
          </a:prstGeom>
          <a:solidFill>
            <a:srgbClr val="123650"/>
          </a:solidFill>
          <a:ln w="9525">
            <a:solidFill>
              <a:srgbClr val="2A4A61"/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6017C2-EC5E-4564-885B-F5E1929375AC}"/>
              </a:ext>
            </a:extLst>
          </p:cNvPr>
          <p:cNvSpPr>
            <a:spLocks noGrp="1"/>
          </p:cNvSpPr>
          <p:nvPr/>
        </p:nvSpPr>
        <p:spPr>
          <a:xfrm>
            <a:off x="1571625" y="5581650"/>
            <a:ext cx="9048750" cy="5143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75" b="1">
                <a:solidFill>
                  <a:srgbClr val="37D5D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7D5D2"/>
                </a:solidFill>
                <a:latin typeface="Arial"/>
                <a:ea typeface="Arial"/>
                <a:cs typeface="Arial"/>
              </a:rPr>
              <a:t>The current prototype succeeds on all four reviewed fixture workflows and provides a strong foundation for a larger held-out benchmark with clean controls.</a:t>
            </a:r>
          </a:p>
        </p:txBody>
      </p:sp>
    </p:spTree>
    <p:extLst>
      <p:ext uri="{BB962C8B-B14F-4D97-AF65-F5344CB8AC3E}">
        <p14:creationId xmlns:p14="http://schemas.microsoft.com/office/powerpoint/2010/main" val="93146811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1277</Words>
  <Application>Microsoft Office PowerPoint</Application>
  <DocSecurity>0</DocSecurity>
  <PresentationFormat>Widescreen</PresentationFormat>
  <Paragraphs>208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Pranav kr</cp:lastModifiedBy>
  <cp:revision>1</cp:revision>
  <dcterms:created xsi:type="dcterms:W3CDTF">2026-09-28T05:51:31Z</dcterms:created>
  <dcterms:modified xsi:type="dcterms:W3CDTF">2026-09-28T06:37:34Z</dcterms:modified>
</cp:coreProperties>
</file>