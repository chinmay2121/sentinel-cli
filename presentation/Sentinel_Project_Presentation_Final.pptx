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d2c45811044376" /><Relationship Type="http://schemas.openxmlformats.org/officeDocument/2006/relationships/extended-properties" Target="/docProps/app.xml" Id="R53d097c091a74c6e" /><Relationship Type="http://schemas.openxmlformats.org/officeDocument/2006/relationships/officeDocument" Target="/ppt/presentation.xml" Id="R22d99e613d77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3343fda2947af"/>
  </p:sldMasterIdLst>
  <p:notesMasterIdLst>
    <p:notesMasterId xmlns:r="http://schemas.openxmlformats.org/officeDocument/2006/relationships" r:id="Rde425d8d31a54d7d"/>
  </p:notesMasterIdLst>
  <p:sldIdLst>
    <p:sldId xmlns:r="http://schemas.openxmlformats.org/officeDocument/2006/relationships" id="256" r:id="R8594fba33391463b"/>
    <p:sldId xmlns:r="http://schemas.openxmlformats.org/officeDocument/2006/relationships" id="257" r:id="R9a825229b0ba4744"/>
    <p:sldId xmlns:r="http://schemas.openxmlformats.org/officeDocument/2006/relationships" id="258" r:id="R94d7e4e47bc542b6"/>
    <p:sldId xmlns:r="http://schemas.openxmlformats.org/officeDocument/2006/relationships" id="259" r:id="Rf3ee5b6259604f88"/>
    <p:sldId xmlns:r="http://schemas.openxmlformats.org/officeDocument/2006/relationships" id="260" r:id="R90472011ad444207"/>
    <p:sldId xmlns:r="http://schemas.openxmlformats.org/officeDocument/2006/relationships" id="261" r:id="R152ad46699ae4d2c"/>
    <p:sldId xmlns:r="http://schemas.openxmlformats.org/officeDocument/2006/relationships" id="262" r:id="Rf6526e739e2b4463"/>
    <p:sldId xmlns:r="http://schemas.openxmlformats.org/officeDocument/2006/relationships" id="263" r:id="Ra9d6fbbe83404b15"/>
    <p:sldId xmlns:r="http://schemas.openxmlformats.org/officeDocument/2006/relationships" id="264" r:id="R93452d6d6d704124"/>
    <p:sldId xmlns:r="http://schemas.openxmlformats.org/officeDocument/2006/relationships" id="265" r:id="R97ca5e07173a406e"/>
    <p:sldId xmlns:r="http://schemas.openxmlformats.org/officeDocument/2006/relationships" id="266" r:id="Rc9ccc2d08bda447d"/>
    <p:sldId xmlns:r="http://schemas.openxmlformats.org/officeDocument/2006/relationships" id="267" r:id="R0d61c7fcafc74edc"/>
    <p:sldId xmlns:r="http://schemas.openxmlformats.org/officeDocument/2006/relationships" id="268" r:id="Ra3a26ce7dea847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25f740e6d40f6" /><Relationship Type="http://schemas.openxmlformats.org/officeDocument/2006/relationships/slideMaster" Target="/ppt/slideMasters/slideMaster1.xml" Id="R9793343fda2947af" /><Relationship Type="http://schemas.openxmlformats.org/officeDocument/2006/relationships/notesMaster" Target="/ppt/notesMasters/notesMaster1.xml" Id="Rde425d8d31a54d7d" /><Relationship Type="http://schemas.openxmlformats.org/officeDocument/2006/relationships/presProps" Target="/ppt/presProps.xml" Id="R16aee56b1aa64b3c" /><Relationship Type="http://schemas.openxmlformats.org/officeDocument/2006/relationships/tableStyles" Target="/ppt/tableStyles.xml" Id="R965c8b48d3cd4d7a" /><Relationship Type="http://schemas.openxmlformats.org/officeDocument/2006/relationships/slide" Target="/ppt/slides/slide1.xml" Id="R8594fba33391463b" /><Relationship Type="http://schemas.openxmlformats.org/officeDocument/2006/relationships/slide" Target="/ppt/slides/slide2.xml" Id="R9a825229b0ba4744" /><Relationship Type="http://schemas.openxmlformats.org/officeDocument/2006/relationships/slide" Target="/ppt/slides/slide3.xml" Id="R94d7e4e47bc542b6" /><Relationship Type="http://schemas.openxmlformats.org/officeDocument/2006/relationships/slide" Target="/ppt/slides/slide4.xml" Id="Rf3ee5b6259604f88" /><Relationship Type="http://schemas.openxmlformats.org/officeDocument/2006/relationships/slide" Target="/ppt/slides/slide5.xml" Id="R90472011ad444207" /><Relationship Type="http://schemas.openxmlformats.org/officeDocument/2006/relationships/slide" Target="/ppt/slides/slide6.xml" Id="R152ad46699ae4d2c" /><Relationship Type="http://schemas.openxmlformats.org/officeDocument/2006/relationships/slide" Target="/ppt/slides/slide7.xml" Id="Rf6526e739e2b4463" /><Relationship Type="http://schemas.openxmlformats.org/officeDocument/2006/relationships/slide" Target="/ppt/slides/slide8.xml" Id="Ra9d6fbbe83404b15" /><Relationship Type="http://schemas.openxmlformats.org/officeDocument/2006/relationships/slide" Target="/ppt/slides/slide9.xml" Id="R93452d6d6d704124" /><Relationship Type="http://schemas.openxmlformats.org/officeDocument/2006/relationships/slide" Target="/ppt/slides/slide10.xml" Id="R97ca5e07173a406e" /><Relationship Type="http://schemas.openxmlformats.org/officeDocument/2006/relationships/slide" Target="/ppt/slides/slide11.xml" Id="Rc9ccc2d08bda447d" /><Relationship Type="http://schemas.openxmlformats.org/officeDocument/2006/relationships/slide" Target="/ppt/slides/slide12.xml" Id="R0d61c7fcafc74edc" /><Relationship Type="http://schemas.openxmlformats.org/officeDocument/2006/relationships/slide" Target="/ppt/slides/slide13.xml" Id="Ra3a26ce7dea8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fec7682c9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bbe0a39b2a49b0" /><Relationship Type="http://schemas.openxmlformats.org/officeDocument/2006/relationships/notesMaster" Target="/ppt/notesMasters/notesMaster1.xml" Id="Rbf5869c4db6a48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b752bb5ce64cf5" /><Relationship Type="http://schemas.openxmlformats.org/officeDocument/2006/relationships/notesMaster" Target="/ppt/notesMasters/notesMaster1.xml" Id="Rf39da0c1337840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156579db0a4db6" /><Relationship Type="http://schemas.openxmlformats.org/officeDocument/2006/relationships/notesMaster" Target="/ppt/notesMasters/notesMaster1.xml" Id="Re438e7c1aaae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8b551c0e14c7b" /><Relationship Type="http://schemas.openxmlformats.org/officeDocument/2006/relationships/notesMaster" Target="/ppt/notesMasters/notesMaster1.xml" Id="Re1d9145ff55c44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4946ea868b4b86" /><Relationship Type="http://schemas.openxmlformats.org/officeDocument/2006/relationships/notesMaster" Target="/ppt/notesMasters/notesMaster1.xml" Id="R106ee55c76ba4a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9b8d095bd4d94" /><Relationship Type="http://schemas.openxmlformats.org/officeDocument/2006/relationships/notesMaster" Target="/ppt/notesMasters/notesMaster1.xml" Id="Rd3bace8808a046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d5cde20cd94d62" /><Relationship Type="http://schemas.openxmlformats.org/officeDocument/2006/relationships/notesMaster" Target="/ppt/notesMasters/notesMaster1.xml" Id="R092cb125e83848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897835ddd64d38" /><Relationship Type="http://schemas.openxmlformats.org/officeDocument/2006/relationships/notesMaster" Target="/ppt/notesMasters/notesMaster1.xml" Id="R00f27b7f760c46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cca3cfd30849a4" /><Relationship Type="http://schemas.openxmlformats.org/officeDocument/2006/relationships/notesMaster" Target="/ppt/notesMasters/notesMaster1.xml" Id="R0b4db4031eb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6f1819b17445e3" /><Relationship Type="http://schemas.openxmlformats.org/officeDocument/2006/relationships/notesMaster" Target="/ppt/notesMasters/notesMaster1.xml" Id="R716bc4ef7b5f45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d94ab1262a4aee" /><Relationship Type="http://schemas.openxmlformats.org/officeDocument/2006/relationships/notesMaster" Target="/ppt/notesMasters/notesMaster1.xml" Id="R4e7f6685d10942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2f66d51c44482d" /><Relationship Type="http://schemas.openxmlformats.org/officeDocument/2006/relationships/notesMaster" Target="/ppt/notesMasters/notesMaster1.xml" Id="R5ead0d762cbb40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66880f95ba4ab8" /><Relationship Type="http://schemas.openxmlformats.org/officeDocument/2006/relationships/notesMaster" Target="/ppt/notesMasters/notesMaster1.xml" Id="R58f313e20b48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manuscript and repository. Student USNs were not present in the supplied files, so editable placeholders are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docs/sentinel_revised.tex, Introduction and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docs/sentinel_revised.tex, Problem and Design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manuscript, design requirements and reporting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manuscript Related Work; Slither, PoCo, Prompt to Pwn, SmartFix, ContractTinker, and SCPatcher references listed in the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docs/sentinel_revised.tex, Proposed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Fig. 1 in docs/sentinel_revised.tex. Diagram is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Five operational phases, and project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pyproject.toml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implementation, README.md, and manuscript System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reports/experiments/paper-full benchmark and docs/sentinel_revised.tex. Chart uses measured per-fixture runtimes. Results do not establish held-out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reporting and dashboard requirements in README.md and manuscript Report Generation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docs/sentinel_revised.tex, Conclusion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02502388f46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1930673ff74b6b" /><Relationship Type="http://schemas.openxmlformats.org/officeDocument/2006/relationships/slideLayout" Target="/ppt/slideLayouts/slideLayout1.xml" Id="R49b0407fa08c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0407fa08c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ed789bcd947b6" /><Relationship Type="http://schemas.openxmlformats.org/officeDocument/2006/relationships/notesSlide" Target="/ppt/notesSlides/notesSlide1.xml" Id="Rbe98f7bc2baf40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c020292e4b4e" /><Relationship Type="http://schemas.openxmlformats.org/officeDocument/2006/relationships/notesSlide" Target="/ppt/notesSlides/notesSlide2.xml" Id="Rda7cb0881791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943624fbb4bd3" /><Relationship Type="http://schemas.openxmlformats.org/officeDocument/2006/relationships/notesSlide" Target="/ppt/notesSlides/notesSlide3.xml" Id="R5baf2a8ad22a42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9002d8ff84d79" /><Relationship Type="http://schemas.openxmlformats.org/officeDocument/2006/relationships/notesSlide" Target="/ppt/notesSlides/notesSlide4.xml" Id="Ra60dc583c9be4d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545b04aea471a" /><Relationship Type="http://schemas.openxmlformats.org/officeDocument/2006/relationships/notesSlide" Target="/ppt/notesSlides/notesSlide5.xml" Id="R59235e2306de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820750246479d" /><Relationship Type="http://schemas.openxmlformats.org/officeDocument/2006/relationships/notesSlide" Target="/ppt/notesSlides/notesSlide6.xml" Id="Rc15da3e1f246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017166a2e4ea7" /><Relationship Type="http://schemas.openxmlformats.org/officeDocument/2006/relationships/notesSlide" Target="/ppt/notesSlides/notesSlide7.xml" Id="R8809698e86f04e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39d01c3d24bde" /><Relationship Type="http://schemas.openxmlformats.org/officeDocument/2006/relationships/notesSlide" Target="/ppt/notesSlides/notesSlide8.xml" Id="R7b03794a787e43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d3b5df7a54e5e" /><Relationship Type="http://schemas.openxmlformats.org/officeDocument/2006/relationships/notesSlide" Target="/ppt/notesSlides/notesSlide9.xml" Id="R3b802a040db848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584ea919948e1" /><Relationship Type="http://schemas.openxmlformats.org/officeDocument/2006/relationships/notesSlide" Target="/ppt/notesSlides/notesSlide10.xml" Id="R07fa62e55a8d46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56b8b18fd4e4e" /><Relationship Type="http://schemas.openxmlformats.org/officeDocument/2006/relationships/chart" Target="/ppt/slides/charts/chart1.xml" Id="Ra341acddb4914ece" /><Relationship Type="http://schemas.openxmlformats.org/officeDocument/2006/relationships/notesSlide" Target="/ppt/notesSlides/notesSlide11.xml" Id="R671eaeac18e745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f0c10ac9e4117" /><Relationship Type="http://schemas.openxmlformats.org/officeDocument/2006/relationships/notesSlide" Target="/ppt/notesSlides/notesSlide12.xml" Id="R8ab1a8ebe4d84b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aeffaef554812" /><Relationship Type="http://schemas.openxmlformats.org/officeDocument/2006/relationships/notesSlide" Target="/ppt/notesSlides/notesSlide13.xml" Id="R1bb15af0d8344a3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Runtime (seconds)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Data'!$A$2:$A$5</c:f>
              <c:strCache>
                <c:ptCount val="4"/>
                <c:pt idx="0">
                  <c:v>Reentrancy</c:v>
                </c:pt>
                <c:pt idx="1">
                  <c:v>Access control</c:v>
                </c:pt>
                <c:pt idx="2">
                  <c:v>tx.origin</c:v>
                </c:pt>
                <c:pt idx="3">
                  <c:v>Unchecked call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35.892</c:v>
                </c:pt>
                <c:pt idx="1">
                  <c:v>14.067</c:v>
                </c:pt>
                <c:pt idx="2">
                  <c:v>10.376</c:v>
                </c:pt>
                <c:pt idx="3">
                  <c:v>64.568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0753F-45EF-4AE0-ADFD-A552BED1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F5F3D-93F1-4C94-930F-0A82D148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D3D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3D3"/>
                </a:solidFill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86C45-CF97-421C-A499-D5003BBE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619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Evidence-guided smart contract</a:t>
            </a:r>
          </a:p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vulnerability confirmation</a:t>
            </a:r>
          </a:p>
          <a:p xmlns:a="http://schemas.openxmlformats.org/drawingml/2006/main">
            <a:pPr>
              <a:defRPr sz="30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and closed-loop repair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4CD96-DF1A-48B3-908B-FE492AB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D6E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D6E5"/>
                </a:solidFill>
                <a:latin typeface="Arial"/>
                <a:ea typeface="Arial"/>
                <a:cs typeface="Arial"/>
              </a:rPr>
              <a:t>Major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9A21D-42FC-4B7C-9272-5682CC3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86250" cy="56197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02B45"/>
          </a:solidFill>
          <a:ln xmlns:a="http://schemas.openxmlformats.org/drawingml/2006/main" w="9525">
            <a:solidFill>
              <a:srgbClr val="3150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F008F-FB15-4125-A734-308CB450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38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3D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5D3D3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475EA-B24B-4DF4-B674-DD599215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52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 R Pranav Swaroop Reddy     USN: __________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0A646-A658-4BCF-805F-1352267D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Chinmay Hegde     USN: 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B5F0A-30C3-463C-A91B-FD868C12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Jnan Dev B L     USN: 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16FE1-7EDA-40E6-B47D-A654611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Suhas P     USN: 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28B65-3040-4CD8-A9E5-B95EAFD9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DA836-5F18-4612-BA64-67DB2625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D3D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5D3D3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D05A2-48A4-4B6D-BF09-F69CC35A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Manjunath D. 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73340-1C32-4778-A652-05836804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962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D7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3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  <a:p xmlns:a="http://schemas.openxmlformats.org/drawingml/2006/main">
            <a:pPr>
              <a:defRPr sz="1125" b="0">
                <a:solidFill>
                  <a:srgbClr val="C9D7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3"/>
                </a:solidFill>
                <a:latin typeface="Arial"/>
                <a:ea typeface="Arial"/>
                <a:cs typeface="Arial"/>
              </a:rPr>
              <a:t>IoT and Cybersecurity including Blockchain Technology</a:t>
            </a:r>
          </a:p>
          <a:p xmlns:a="http://schemas.openxmlformats.org/drawingml/2006/main">
            <a:pPr>
              <a:defRPr sz="1125" b="0">
                <a:solidFill>
                  <a:srgbClr val="C9D7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7E3"/>
                </a:solidFill>
                <a:latin typeface="Arial"/>
                <a:ea typeface="Arial"/>
                <a:cs typeface="Arial"/>
              </a:rPr>
              <a:t>B.M.S. College of Engineering, Bengaluru</a:t>
            </a:r>
          </a:p>
        </p:txBody>
      </p:sp>
    </p:spTree>
    <p:extLst>
      <p:ext uri="{BB962C8B-B14F-4D97-AF65-F5344CB8AC3E}">
        <p14:creationId xmlns:p14="http://schemas.microsoft.com/office/powerpoint/2010/main" val="2024749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F3A24-E569-4962-8C81-2DAC3C1A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F13E3-8E46-4087-9F51-BE2DF103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04518-C23A-401B-A28E-60AAA8CF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F90FF-2A32-4E5F-9EA7-6C50B212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BAD12-9115-495A-BF23-52332F4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Smart contracts hold assets and enforce rules automatically. A small coding error can therefore become a direct security loss.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CDF34-3BEE-4573-997D-257F6325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0EDD8-CB8B-43D5-AE03-0431506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AB027-8F94-4EB8-A572-878ADD4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Slither and Mythril identify suspicious patterns and execution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2C804-FFD0-45A2-90AC-6FA4234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4542A-9F45-413E-94EA-6F98086C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D734A-86F1-4E08-BE69-6CB34A12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warning becomes stronger evidence when a Foundry test reproduces the attack.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1760B-015D-4774-AD3A-EC3DFFA0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B5288-61AE-45E1-AFFE-D5D0F20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CC90D-2AB4-4AEE-BD7B-F23564C8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patch needs compilation, exploit replay, and regression checks before acceptance.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8006A-30C4-42EE-B82C-416A3D2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Sentinel connects these steps in one local, reviewable workflow.</a:t>
            </a:r>
          </a:p>
        </p:txBody>
      </p:sp>
    </p:spTree>
    <p:extLst>
      <p:ext uri="{BB962C8B-B14F-4D97-AF65-F5344CB8AC3E}">
        <p14:creationId xmlns:p14="http://schemas.microsoft.com/office/powerpoint/2010/main" val="2129947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1078A-F3E5-4787-BD8B-396FFA93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99F5E-0B02-4D2B-9B6F-1E08DD09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B121F-FA74-400F-838C-4A4C811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A5FD7-EBD1-450D-A056-53ACA63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5AA79-B5EE-4F99-B147-FB7246AE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Existing tools produce useful evidence, but developers still have to connect the evidence manually.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AAB57-2028-44C3-B8A4-9526F9CA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DC716-0F82-4331-B78A-C97C7C4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Different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377BE-6F35-4B8B-8BD3-F6B35C50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Static and symbolic tools use different formats and severity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107FD-6F50-49F6-9804-B4480B6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BF323-2043-4981-9CCE-C07CEC8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Warnings lack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FDFAD-BE7F-4D6B-BB7B-E1843473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reported pattern may not be exploitable in the target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A2651-3D4D-45C4-A72A-D7C36F91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ED2F9-D9A8-4D03-8736-45E65CD8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67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Patches may break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C0DA3-CE11-4FA8-80C4-5473EF72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671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compilable change can leave the exploit active or damage normal behavior.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030D9-3C1C-455A-8ABC-9FB4B71D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68CC4-0BCF-4F0A-B52E-9F817567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Failures can be hidden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6EF19-B463-4F22-A7F2-F35CCBAC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Missing tools and timeouts may be mistaken for a clean result.</a:t>
            </a:r>
          </a:p>
        </p:txBody>
      </p:sp>
    </p:spTree>
    <p:extLst>
      <p:ext uri="{BB962C8B-B14F-4D97-AF65-F5344CB8AC3E}">
        <p14:creationId xmlns:p14="http://schemas.microsoft.com/office/powerpoint/2010/main" val="1071625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8CDF8-EB26-4335-A5CC-265957D9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F37C3-522E-4550-929D-20593F4E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0A491-34CD-4205-851A-B488BEEA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636CC-0DDA-4C6A-BA93-128C68B7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18E11-F6D2-4EB4-8CE2-2B44C511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4AF0E-3A23-49E3-938B-0DDAE46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811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Combine Slither and Mythril findings into one structured format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BB225-D61A-4234-9A65-856540AC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4EF3D-0814-47B3-8C3C-247722C8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3811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Confirm selected vulnerabilities with executable Foundry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AD740-82DE-4FF8-AAAD-0C12A02A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126D1-FB24-46D0-95FD-17CB5637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527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Generate focused patches inside an isolated project 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3FD1E-A3AE-4892-BD78-22E6B89A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527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049C6-7149-4462-B5AE-7477A966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Accept repairs only after build, exploit-defense, and regression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F15FA-FAC1-438D-A49C-9AD187D9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E67E3-F05B-41C5-B483-80EBD744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Record findings, bugs, scans, changes, retries, and phase conclusions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9E5BA-188B-44D1-872A-CBE7FB3A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243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9F00F-F0B8-43C8-9870-674E6088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2437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Support reproducible benchmark profiles and honest coverage reporting</a:t>
            </a:r>
          </a:p>
        </p:txBody>
      </p:sp>
    </p:spTree>
    <p:extLst>
      <p:ext uri="{BB962C8B-B14F-4D97-AF65-F5344CB8AC3E}">
        <p14:creationId xmlns:p14="http://schemas.microsoft.com/office/powerpoint/2010/main" val="619890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5E3F7-BBA4-46EF-95B3-0722AFC0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985B6-33D7-42B4-BDA7-51F7277C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Existing systems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277F4-AA76-42C8-BEF3-B9FB7C9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11D8D-7B04-4A39-AAEA-4D6DDA72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BD97A-58B5-4989-9DA5-59A8B34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4B32B-7FCC-4F4F-AAA2-82FBAA54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381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Strength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A2403-5C06-4602-8961-692C3231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Remaining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AE172-A5C0-45BE-B3AD-45E62AA6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47A54-7A3C-4EE8-A60A-6C84A74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Slither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DBD2B-7E3D-4BB9-B2AE-AB23329A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Fast static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C8CCF-14DD-4A3F-85DC-5CE83EC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Warning does not prove project-specific exploitability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2BB49-8057-4ADA-B40D-0C17B26C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F5424-8F71-428B-891A-73595E33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Mythril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C5AD0-D58E-4A8A-B136-0504AD8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860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Symbolic path exploration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E016A-5A01-4DDF-84EE-9CC1F394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Higher execution cost and environment sensitivity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F751E-F397-4065-90F9-675FEFC6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3BBE0-3354-4F61-8BE9-4B828BF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PoCo / ReX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900F1-CB86-4D68-AFB7-005F3945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623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Executable exploit 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59AEA-8646-484A-A910-D067BD80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Primarily focuses on exploit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2108A-A88C-4732-A132-B7BF1FAC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AD219-AA6C-412A-B5A8-2E116946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SmartFix / ContractTinker / SCPatcher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F7D30-26A5-4E31-909A-063B02F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386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Automated repair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F0D2D-757E-4569-BC85-B299132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Different datasets and validation oracles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B6E89-C781-42A0-8ED2-EFECC3BB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Sentinel studies the boundary between detection, executable confirmation, repair, and final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6296003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882D3-0F8B-40A6-9C6B-EB9511A0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3658B-E23A-4532-9866-B153B381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22E14-22BF-423D-B466-E2579C8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4D26F-428C-4037-8F25-690B86F6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A085A-DD10-492F-97C0-B3C1A280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evidence chain from source code to a verified or review-required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0AC9F-6E58-4DEB-950E-34C4E77C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83CF7-524F-461D-B5DC-9F7AC533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53703-9069-4216-B871-1F6E4212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Normalizes findings and selects a candidate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E927B-D27C-483D-995B-C590D213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A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84F18-0EED-483A-A311-7F3FCB8C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9916-4D00-4B2A-A947-7635FC88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Builds and runs a local exploit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F705F-DA47-4D16-AAFB-E0957CCB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6BC33-5356-4CD8-8745-8CB34F24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Blue Team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8A138-373C-4B9C-A1AE-48789783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Creates a focused, reviewable source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D95B7-76EB-4D7B-AE20-F8039FE8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43125"/>
            <a:ext cx="2333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AF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27F56-6AA0-4D61-A59B-B549D9B6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3E4AF-47A7-422B-B91D-D88A9207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05125"/>
            <a:ext cx="185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Uses Forge to decide whether the patch passes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48ECE-F080-495E-885D-6CC926A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original project stays unchanged. Reports preserve every artifact and failure reason.</a:t>
            </a:r>
          </a:p>
        </p:txBody>
      </p:sp>
    </p:spTree>
    <p:extLst>
      <p:ext uri="{BB962C8B-B14F-4D97-AF65-F5344CB8AC3E}">
        <p14:creationId xmlns:p14="http://schemas.microsoft.com/office/powerpoint/2010/main" val="418074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18C047-4548-40EF-B4C3-BB60347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503A-DCD3-4484-A68E-9D38599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DA1E1-F49C-4052-9A8D-FE56BD6A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FB81E-53CF-4AF2-B83D-FCDBEDAE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09980-F742-4748-9C59-C140D7C5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14745-9CD2-4271-8CE7-A71DE832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59A40-26ED-4DB5-81F8-F4A2692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70FB5-0072-48E9-AA65-CA295E8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2F064-B84D-4E28-9918-B2EC146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Foundry project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Isolated 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BC0B9-B244-44C2-98D8-12C1198A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9F649-9964-49AE-AE79-15DBC22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6616D-8BD4-477B-896A-0DD0241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EFDBD-F727-4DBD-A464-4F8AA5C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028CA-BCA2-47AC-9B99-1ECB641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EEFE8-E1D3-46D4-9B07-B98F9984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F3569-4DD3-45F7-A1DE-70BA20F4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Slither + Mythril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Rank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32C35-B8CA-4F44-B02F-A1B4AAF6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F5CEC-E77E-45EB-B7B0-E2AEF43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4D7BB-57E1-4A64-AC02-0CB5062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0A4A0-CE1C-4D79-9B9B-A8695E1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8552A-9BB0-42F1-A747-0FE4AE55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4F2C8-A453-4F16-963C-D5544546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Red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1E9B2-010B-4D63-9F55-E88A0941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Create PoC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 Forge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25C43-11C0-4762-A8CB-7131D55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E3C71-0488-44B9-B4E9-FD74044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EDC0CA-E77D-488A-9B3B-0BCDCC30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23986-6D7B-4CB2-A548-A895B368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E9916-FA93-4A1A-8964-82235E9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BAB4D-2732-4F82-9A51-DBEBBD11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Blue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49BF0-A9FA-4BB9-B937-A7499BA8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Generate patch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Check diff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6B2E18-69B4-4074-8351-445AFABB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DDFC5-78A9-4F65-8350-E5355437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4C751-9C19-4478-A41E-41D8EE27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8014C-E273-48D0-9750-EEAE544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A54F55-7F7E-429C-8B30-C55DD3B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9A85C1-1B15-449C-A878-E27C8C33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5D6BC5-4A69-45C8-8F54-BAF3C05F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Build + replay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 regressions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3338B1-D3B7-4B81-9CF6-BB7F264D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EBEF23-29B5-4D82-9A6F-52F43EC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19325"/>
            <a:ext cx="95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6E2F1F-25C6-4D83-AE81-77E307A4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192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7376DB-3930-4869-B9FC-4633FF6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55CF23-F7D1-4AA2-9C6C-FE6B980E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33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72F887-DA78-4066-9877-4AD3C25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431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D604F7-0DE2-4EE4-893C-A6B854F0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98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Accept, retry,</a:t>
            </a:r>
          </a:p>
          <a:p xmlns:a="http://schemas.openxmlformats.org/drawingml/2006/main">
            <a:pPr>
              <a:defRPr sz="11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abstain, 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D5AD0E-2691-40E3-84F1-35CCBE80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0134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9525">
            <a:solidFill>
              <a:srgbClr val="00A6A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62A17F-498F-4847-8C0E-B6ACB578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Shared evidence ledger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118732-238B-434A-9293-882CD6B4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2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Source snapshots   Analyzer diagnostics   Ranked candidates   PoC output   Patch diff   Validation results   Retry history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F2BAD8-81C1-4C09-A509-95AA7119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Failed validation returns evidence to Blue Team for a bounded retry</a:t>
            </a:r>
          </a:p>
        </p:txBody>
      </p:sp>
    </p:spTree>
    <p:extLst>
      <p:ext uri="{BB962C8B-B14F-4D97-AF65-F5344CB8AC3E}">
        <p14:creationId xmlns:p14="http://schemas.microsoft.com/office/powerpoint/2010/main" val="920650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5D6D3-D80E-46F4-BC70-9FDDB08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FD294-924F-4B23-B2B2-76CB3A90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Methodology and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CC2CA-4A26-4F1A-AEE7-A9A92AF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F522D-BE45-4CB4-890E-301B9E56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FD441-4FBF-4865-BA6E-783D8FAB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2E27-E51B-48F2-A62B-BA0DA682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7D0D5-2EC2-4967-828C-CA86D1AA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95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Validate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918A1-3DFD-41F3-96C8-E616BB5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954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Check Foundry configuration and copy the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382C0-DD57-4AA1-B6D4-94C1D641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D060B-2F4D-4661-898D-E7F22FF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30BB7-081B-4BEA-86D7-3828A1F3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Collect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B51AE-D332-4694-A043-24E518E3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 analyzers and normalize their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F3AB3-39B4-4428-9C98-8289DE8C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50FBC-B628-44EE-B0FC-9E4D3B73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FB0F6-63B2-4C9E-B29A-CBCE10AC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Confirm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703F4-FC8C-4A12-B85D-54CC998C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Generate testExploit and execute it with Forge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7FB6A-C3A4-401A-BF0C-304F9113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A70D4-BAA9-461C-B034-7EF4226D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E433D-6385-4626-B6E2-4F22629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Create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10BDC-14FC-4CC8-ACE7-972195DC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Apply a template or guarded unified 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5058C-6473-42A3-A276-2B745A46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3B293-9804-4444-B003-2EDFF768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F5337-EEDF-45CC-BEA7-983BD3D3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9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3241B-9997-4065-B2C5-AB15FBC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96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Build, block the exploit, and run regressions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365CA-CC4D-412B-AF03-284D5579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04025-5A07-40F5-AED2-8DDB1A8F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89DD2-4951-4D56-9FCC-909537F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Conclude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C7AEB-9B0F-4E8E-A77E-D08475B7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0065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Accept, retry, abstain, or request human review</a:t>
            </a:r>
          </a:p>
        </p:txBody>
      </p:sp>
    </p:spTree>
    <p:extLst>
      <p:ext uri="{BB962C8B-B14F-4D97-AF65-F5344CB8AC3E}">
        <p14:creationId xmlns:p14="http://schemas.microsoft.com/office/powerpoint/2010/main" val="1896487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0F969-85BB-4467-888F-DB2ACDEF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EBD00-E3F6-4FE6-AAF6-9E8BEAA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C9F7-1805-4AC0-B941-34E7A290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D3EB4-9751-4852-9579-224B7D5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5AE36-8279-417B-A5A8-3AB9A04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83B7-469E-4895-B0CA-5821261C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3E9B5-4CAF-4A94-B0E3-3CD461B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Python 3.11+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Typer CLI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FastAPI + Uvicorn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8F355-ACE6-4E23-8DD9-208F2B03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A4F3E-A8FA-4530-87FE-551E99FA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87F2B-2C1A-4BFC-99FA-A113DCD2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LangGraph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Pydantic state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JSON 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C8B7-A00C-4017-8688-FBA650DD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Security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DC331-414C-4590-A636-A4E4256C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91335-77EB-417E-8CD7-8A80EBDE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Slither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Mythril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Solidity 0.8.25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D112E-0770-4FFA-8EDF-282FD40E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A219C-C304-4B2F-B558-1FF5116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5AC73-1084-47B0-879C-914FDBF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Foundry / Forge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Local EVM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Pytest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7FF97-E8E9-4EE5-90A8-D907B2BC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4287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Optional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95CE9-1B2F-4182-9AD3-2D56FE2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47850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60000-BF6C-4CE9-8A54-B4D189A4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2047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OpenAI models</a:t>
            </a:r>
          </a:p>
          <a:p xmlns:a="http://schemas.openxmlformats.org/drawingml/2006/main">
            <a:pPr>
              <a:defRPr sz="1575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Ollama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EC4AC-D810-465B-98B0-4DB3D29C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Safety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4F405-FF72-400D-BF27-9FFF9DB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Executable allowlist, argument arrays, validated working directories, timeouts, and isolated workspace copies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B3872-D306-46CE-8F30-CF49ADB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E8F5A-4119-4966-BA49-86BE5076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Markdown report, JSON state, exploit test, patched Solidity, and unified diff</a:t>
            </a:r>
          </a:p>
        </p:txBody>
      </p:sp>
    </p:spTree>
    <p:extLst>
      <p:ext uri="{BB962C8B-B14F-4D97-AF65-F5344CB8AC3E}">
        <p14:creationId xmlns:p14="http://schemas.microsoft.com/office/powerpoint/2010/main" val="1764764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F174D-36D7-45C0-88B1-62A7C9C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BDFC3-1854-4129-AEC4-006173E9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Implementation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B8DE1-B913-4EF5-A563-86BC873E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7842E-0B68-48A3-B63B-70D6B0BD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99EA8-C9E0-4C15-87C2-CD87CB7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4603C-8F8B-48D5-9263-5CDD2085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4C6B3-E91B-4828-9E3A-8E18642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Executes allowlisted tools with timeouts and validated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E4063-11EF-45CF-9CFE-6FC33401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Scout adapters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BB5C6-2156-4A7F-A5F5-8151F4C2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9A66E-18A4-47AA-97E4-FE7B873D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Parse Slither and Mythril JSON into normalized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AB7CC-DD54-4295-87CC-2ABEFD38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PoC 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CF65A-B681-445E-B983-0FDC786C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18978-92FE-4397-A851-69D42B2B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Creates reviewed fixture tests or provider-generated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A08D4-E95C-4AF7-9B80-581C34C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Patch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76303-1B96-4809-9234-81CC3B01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4FB18-FC7B-4F58-9BA3-4A6CAD0F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Applies scoped templates or validated unified diffs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823C9-776D-4E6E-A9B1-2135E7EA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608D0-114D-420A-B864-7704EDE6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4AE6-CF97-4F05-9F6F-A473AFA0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Runs build, exploit replay, regression tests, and optional oracles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3E6BA-0FE4-4E79-9B87-EAF1BDA0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Reporter and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602A1-989A-4FAC-8570-2CC182B5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0803D-11DA-4AA0-90DF-DE39AEFF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Exposes timelines, counts, artifacts, conclusions, and scan history</a:t>
            </a:r>
          </a:p>
        </p:txBody>
      </p:sp>
    </p:spTree>
    <p:extLst>
      <p:ext uri="{BB962C8B-B14F-4D97-AF65-F5344CB8AC3E}">
        <p14:creationId xmlns:p14="http://schemas.microsoft.com/office/powerpoint/2010/main" val="823168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79000-3B3D-4068-824A-F58CD645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F38E8-AF02-4359-9B44-0DBF0701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Testing and benchmark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3E6BF-E7F7-462E-8DEA-51B6B5F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16DF3-222E-4D4A-BA48-1A4F016C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A0122-58DE-47CB-8360-29527099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8B6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8B68"/>
                </a:solidFill>
                <a:latin typeface="Arial"/>
                <a:ea typeface="Arial"/>
                <a:cs typeface="Arial"/>
              </a:rPr>
              <a:t>82 / 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6026B-54A6-4845-B499-09258A4B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automated tests passed in 6.16 seconds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762500" y="1257300"/>
          <a:ext xmlns:a="http://schemas.openxmlformats.org/drawingml/2006/main" cx="6572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41acddb4914ec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C5D9A-CA26-4DAD-8451-9EE3C806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3D04A-F969-41FC-9530-A56B9218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exploits confirmed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711A4-B1DC-458F-8245-6BEAEC90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1360F-7DA6-4A89-B961-9E8EDEF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67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repairs 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F33EB-9D3D-481E-9A86-3FC352F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31.226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9EF0F-BADB-4203-9F15-A4C917BF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mean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607CF-19E8-4704-83E1-941D590D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These are known fixture results. Detection precision, recall, F1, and false-positive rate remain unavailable because analyzer coverage was incomplete and no clean controls were included.</a:t>
            </a:r>
          </a:p>
        </p:txBody>
      </p:sp>
    </p:spTree>
    <p:extLst>
      <p:ext uri="{BB962C8B-B14F-4D97-AF65-F5344CB8AC3E}">
        <p14:creationId xmlns:p14="http://schemas.microsoft.com/office/powerpoint/2010/main" val="2513274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BEB16-1970-4382-8835-8F0F881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528C5-0083-4AED-A200-233FF726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Reports and front-end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FBE06-F2AF-41E8-9F83-B5CEC8F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31806-6098-4288-930E-2F50D673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6CB32-35DD-4664-A698-CBCA984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Every scan should answer four simple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535D6-1B89-463C-A66E-9E8945C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176EE-6FC7-46C7-B149-F9D6BAF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DC2B0-CAB8-4FF7-85E6-8062530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47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was scanned?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502EF-2C85-471F-8AB7-ACBE90E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Project path, profile, tools, timestamps, and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232CD-9B0F-494C-9E0D-B8017F3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B962C-98DB-4207-8608-8E2731F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DEB52-C110-4B60-95F3-9AEAA7D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was found?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BCDFF-F90F-4947-AA93-A0C930B5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Finding count, confirmed bug count, severity, and source location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C5CC8-2122-496A-8010-95E0708B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8E0F7-D8D5-4A20-88A3-55A0E7EB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F8808-A98B-4F19-8631-CC2E751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57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changed?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E9731-BF30-4E93-85AD-2F4D694E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Patched files, unified diff, PoC, and saved artifact paths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6AC9B-E82A-4CC7-AFA3-45B968C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CD48B-346F-42C8-8625-488E1D06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F82D1-F73B-4DFE-8FE8-41370D19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Why this result?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8FC07-6FC1-469A-B103-0D68C658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Phase conclusions, command evidence, retries, and final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BA4F8-BD09-48D0-96F3-3B75191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Possible final states: verified, discarded, execution unavailable, coverage incomplete, or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5636119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152B7-9D77-46B1-9555-6696BA8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15FE5-9630-43E9-86C4-20291B7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B1108-9597-4F98-B562-01BD09C4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B02A9-E7B5-4D23-9577-E471EA23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92604-87D8-41EA-AE53-A7A4C98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Sentinel turns disconnected security outputs into a traceable assessment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19143-421A-4235-A426-6EE7C8BE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DFD0E-CA1A-489A-8B80-F8225D6E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A54C8-DD4A-4C6D-BFEE-484220D9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A vulnerability advances only after an executable test demonstrates impact.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9D298-D003-4260-BB0B-07824934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77BE5-A8FB-469F-80D9-CC3E90A0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Controlled 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CC6FC-8A9F-4B04-8989-6167799B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The system changes an isolated copy and preserves a reviewable diff.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C9263-B7E9-49AD-9517-5543EE1B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46D62-82E1-4564-ACE2-D9D41C1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564BC-D3AF-459D-98D2-40C1998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Forge compilation, exploit replay, and regression tests control acceptance.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FAAC4-1476-43D8-8426-6969F34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35ACC-C98C-41ED-8E5D-D8AC5F6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Transparent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7674A-CF55-4187-8F2B-49963145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5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579"/>
                </a:solidFill>
                <a:latin typeface="Arial"/>
                <a:ea typeface="Arial"/>
                <a:cs typeface="Arial"/>
              </a:rPr>
              <a:t>Tool failures and missing benchmark denominators remain visible in the report.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ABEFE-5207-471F-BBFC-683C66D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Current evidence validates the four reviewed fixture workflows. The next step is a held-out benchmark with clean controls and complete analyzer coverage.</a:t>
            </a:r>
          </a:p>
        </p:txBody>
      </p:sp>
    </p:spTree>
    <p:extLst>
      <p:ext uri="{BB962C8B-B14F-4D97-AF65-F5344CB8AC3E}">
        <p14:creationId xmlns:p14="http://schemas.microsoft.com/office/powerpoint/2010/main" val="1351432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2026-09-28T03:48:01.7460000Z</dcterms:created>
  <dcterms:modified xsi:type="dcterms:W3CDTF">2026-09-28T03:48:01.7460000Z</dcterms:modified>
</coreProperties>
</file>